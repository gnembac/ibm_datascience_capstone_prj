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6858000" cx="12192000"/>
  <p:notesSz cx="6858000" cy="1857375"/>
  <p:embeddedFontLst>
    <p:embeddedFont>
      <p:font typeface="Roboto"/>
      <p:regular r:id="rId56"/>
      <p:bold r:id="rId57"/>
      <p:italic r:id="rId58"/>
      <p:boldItalic r:id="rId59"/>
    </p:embeddedFont>
    <p:embeddedFont>
      <p:font typeface="IBM Plex Mono SemiBold"/>
      <p:regular r:id="rId60"/>
      <p:bold r:id="rId61"/>
      <p:italic r:id="rId62"/>
      <p:boldItalic r:id="rId63"/>
    </p:embeddedFont>
    <p:embeddedFont>
      <p:font typeface="IBM Plex Mono"/>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8" roundtripDataSignature="AMtx7mid5TAzZVgvygLDMraBorkkcf3i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BMPlexMonoSemiBold-italic.fntdata"/><Relationship Id="rId61" Type="http://schemas.openxmlformats.org/officeDocument/2006/relationships/font" Target="fonts/IBMPlexMonoSemiBold-bold.fntdata"/><Relationship Id="rId20" Type="http://schemas.openxmlformats.org/officeDocument/2006/relationships/slide" Target="slides/slide15.xml"/><Relationship Id="rId64" Type="http://schemas.openxmlformats.org/officeDocument/2006/relationships/font" Target="fonts/IBMPlexMono-regular.fntdata"/><Relationship Id="rId63" Type="http://schemas.openxmlformats.org/officeDocument/2006/relationships/font" Target="fonts/IBMPlexMonoSemiBold-boldItalic.fntdata"/><Relationship Id="rId22" Type="http://schemas.openxmlformats.org/officeDocument/2006/relationships/slide" Target="slides/slide17.xml"/><Relationship Id="rId66" Type="http://schemas.openxmlformats.org/officeDocument/2006/relationships/font" Target="fonts/IBMPlexMono-italic.fntdata"/><Relationship Id="rId21" Type="http://schemas.openxmlformats.org/officeDocument/2006/relationships/slide" Target="slides/slide16.xml"/><Relationship Id="rId65" Type="http://schemas.openxmlformats.org/officeDocument/2006/relationships/font" Target="fonts/IBMPlexMono-bold.fntdata"/><Relationship Id="rId24" Type="http://schemas.openxmlformats.org/officeDocument/2006/relationships/slide" Target="slides/slide19.xml"/><Relationship Id="rId68" Type="http://customschemas.google.com/relationships/presentationmetadata" Target="metadata"/><Relationship Id="rId23" Type="http://schemas.openxmlformats.org/officeDocument/2006/relationships/slide" Target="slides/slide18.xml"/><Relationship Id="rId67" Type="http://schemas.openxmlformats.org/officeDocument/2006/relationships/font" Target="fonts/IBMPlexMono-boldItalic.fntdata"/><Relationship Id="rId60" Type="http://schemas.openxmlformats.org/officeDocument/2006/relationships/font" Target="fonts/IBMPlexMonoSemiBold-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bold.fntdata"/><Relationship Id="rId12" Type="http://schemas.openxmlformats.org/officeDocument/2006/relationships/slide" Target="slides/slide7.xml"/><Relationship Id="rId56" Type="http://schemas.openxmlformats.org/officeDocument/2006/relationships/font" Target="fonts/Roboto-regular.fntdata"/><Relationship Id="rId15" Type="http://schemas.openxmlformats.org/officeDocument/2006/relationships/slide" Target="slides/slide10.xml"/><Relationship Id="rId59" Type="http://schemas.openxmlformats.org/officeDocument/2006/relationships/font" Target="fonts/Roboto-boldItalic.fntdata"/><Relationship Id="rId14" Type="http://schemas.openxmlformats.org/officeDocument/2006/relationships/slide" Target="slides/slide9.xml"/><Relationship Id="rId58" Type="http://schemas.openxmlformats.org/officeDocument/2006/relationships/font" Target="fonts/Robo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232117b7d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e232117b7d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232117b7d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3e232117b7d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33" name="Google Shape;13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10" name="Google Shape;21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232117b7d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g3e232117b7d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g3e232117b7d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spTree>
      <p:nvGrpSpPr>
        <p:cNvPr id="11" name="Shape 11"/>
        <p:cNvGrpSpPr/>
        <p:nvPr/>
      </p:nvGrpSpPr>
      <p:grpSpPr>
        <a:xfrm>
          <a:off x="0" y="0"/>
          <a:ext cx="0" cy="0"/>
          <a:chOff x="0" y="0"/>
          <a:chExt cx="0" cy="0"/>
        </a:xfrm>
      </p:grpSpPr>
      <p:sp>
        <p:nvSpPr>
          <p:cNvPr id="12" name="Google Shape;12;p4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rgbClr val="005493"/>
              </a:buClr>
              <a:buSzPts val="4800"/>
              <a:buFont typeface="IBM Plex Mono SemiBold"/>
              <a:buNone/>
              <a:defRPr b="0" i="0" sz="4800" u="none" cap="none" strike="noStrike">
                <a:solidFill>
                  <a:srgbClr val="005493"/>
                </a:solidFill>
                <a:latin typeface="IBM Plex Mono SemiBold"/>
                <a:ea typeface="IBM Plex Mono SemiBold"/>
                <a:cs typeface="IBM Plex Mono SemiBold"/>
                <a:sym typeface="IBM Plex Mono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sp>
        <p:nvSpPr>
          <p:cNvPr id="15" name="Google Shape;15;p50"/>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5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5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9" name="Google Shape;19;p5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5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51"/>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ertical Title and Text">
  <p:cSld name="1_Vertical Title and Text">
    <p:spTree>
      <p:nvGrpSpPr>
        <p:cNvPr id="22" name="Shape 22"/>
        <p:cNvGrpSpPr/>
        <p:nvPr/>
      </p:nvGrpSpPr>
      <p:grpSpPr>
        <a:xfrm>
          <a:off x="0" y="0"/>
          <a:ext cx="0" cy="0"/>
          <a:chOff x="0" y="0"/>
          <a:chExt cx="0" cy="0"/>
        </a:xfrm>
      </p:grpSpPr>
      <p:sp>
        <p:nvSpPr>
          <p:cNvPr id="23" name="Google Shape;23;p5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5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7" name="Google Shape;27;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 name="Google Shape;28;p5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5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3"/>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5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5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5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54"/>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55"/>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0" name="Google Shape;40;p5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sz="2400">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1" name="Google Shape;41;p5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5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sz="2400">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5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5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5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55"/>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5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 name="Google Shape;49;p5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5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56"/>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5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5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57"/>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8" name="Google Shape;58;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sz="3200">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9" name="Google Shape;59;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sz="1600">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0" name="Google Shape;60;p5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5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58"/>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 name="Google Shape;65;p59"/>
          <p:cNvSpPr/>
          <p:nvPr>
            <p:ph idx="2" type="pic"/>
          </p:nvPr>
        </p:nvSpPr>
        <p:spPr>
          <a:xfrm>
            <a:off x="5183188" y="987425"/>
            <a:ext cx="6172200" cy="4873625"/>
          </a:xfrm>
          <a:prstGeom prst="rect">
            <a:avLst/>
          </a:prstGeom>
          <a:noFill/>
          <a:ln>
            <a:noFill/>
          </a:ln>
        </p:spPr>
      </p:sp>
      <p:sp>
        <p:nvSpPr>
          <p:cNvPr id="66" name="Google Shape;66;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sz="1600">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7" name="Google Shape;67;p5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5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59"/>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6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2" name="Google Shape;72;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 name="Google Shape;73;p6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6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60"/>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61"/>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8" name="Google Shape;78;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 name="Google Shape;79;p6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 name="Google Shape;80;p6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p61"/>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8"/>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600" u="none" cap="none" strike="noStrike">
                <a:solidFill>
                  <a:srgbClr val="1C7DDB"/>
                </a:solidFill>
                <a:latin typeface="Arial"/>
                <a:ea typeface="Arial"/>
                <a:cs typeface="Arial"/>
                <a:sym typeface="Arial"/>
              </a:defRPr>
            </a:lvl1pPr>
            <a:lvl2pPr indent="0" lvl="1" marL="0" marR="0" rtl="0" algn="r">
              <a:spcBef>
                <a:spcPts val="0"/>
              </a:spcBef>
              <a:buNone/>
              <a:defRPr b="0" i="0" sz="1600" u="none" cap="none" strike="noStrike">
                <a:solidFill>
                  <a:srgbClr val="1C7DDB"/>
                </a:solidFill>
                <a:latin typeface="Arial"/>
                <a:ea typeface="Arial"/>
                <a:cs typeface="Arial"/>
                <a:sym typeface="Arial"/>
              </a:defRPr>
            </a:lvl2pPr>
            <a:lvl3pPr indent="0" lvl="2" marL="0" marR="0" rtl="0" algn="r">
              <a:spcBef>
                <a:spcPts val="0"/>
              </a:spcBef>
              <a:buNone/>
              <a:defRPr b="0" i="0" sz="1600" u="none" cap="none" strike="noStrike">
                <a:solidFill>
                  <a:srgbClr val="1C7DDB"/>
                </a:solidFill>
                <a:latin typeface="Arial"/>
                <a:ea typeface="Arial"/>
                <a:cs typeface="Arial"/>
                <a:sym typeface="Arial"/>
              </a:defRPr>
            </a:lvl3pPr>
            <a:lvl4pPr indent="0" lvl="3" marL="0" marR="0" rtl="0" algn="r">
              <a:spcBef>
                <a:spcPts val="0"/>
              </a:spcBef>
              <a:buNone/>
              <a:defRPr b="0" i="0" sz="1600" u="none" cap="none" strike="noStrike">
                <a:solidFill>
                  <a:srgbClr val="1C7DDB"/>
                </a:solidFill>
                <a:latin typeface="Arial"/>
                <a:ea typeface="Arial"/>
                <a:cs typeface="Arial"/>
                <a:sym typeface="Arial"/>
              </a:defRPr>
            </a:lvl4pPr>
            <a:lvl5pPr indent="0" lvl="4" marL="0" marR="0" rtl="0" algn="r">
              <a:spcBef>
                <a:spcPts val="0"/>
              </a:spcBef>
              <a:buNone/>
              <a:defRPr b="0" i="0" sz="1600" u="none" cap="none" strike="noStrike">
                <a:solidFill>
                  <a:srgbClr val="1C7DDB"/>
                </a:solidFill>
                <a:latin typeface="Arial"/>
                <a:ea typeface="Arial"/>
                <a:cs typeface="Arial"/>
                <a:sym typeface="Arial"/>
              </a:defRPr>
            </a:lvl5pPr>
            <a:lvl6pPr indent="0" lvl="5" marL="0" marR="0" rtl="0" algn="r">
              <a:spcBef>
                <a:spcPts val="0"/>
              </a:spcBef>
              <a:buNone/>
              <a:defRPr b="0" i="0" sz="1600" u="none" cap="none" strike="noStrike">
                <a:solidFill>
                  <a:srgbClr val="1C7DDB"/>
                </a:solidFill>
                <a:latin typeface="Arial"/>
                <a:ea typeface="Arial"/>
                <a:cs typeface="Arial"/>
                <a:sym typeface="Arial"/>
              </a:defRPr>
            </a:lvl6pPr>
            <a:lvl7pPr indent="0" lvl="6" marL="0" marR="0" rtl="0" algn="r">
              <a:spcBef>
                <a:spcPts val="0"/>
              </a:spcBef>
              <a:buNone/>
              <a:defRPr b="0" i="0" sz="1600" u="none" cap="none" strike="noStrike">
                <a:solidFill>
                  <a:srgbClr val="1C7DDB"/>
                </a:solidFill>
                <a:latin typeface="Arial"/>
                <a:ea typeface="Arial"/>
                <a:cs typeface="Arial"/>
                <a:sym typeface="Arial"/>
              </a:defRPr>
            </a:lvl7pPr>
            <a:lvl8pPr indent="0" lvl="7" marL="0" marR="0" rtl="0" algn="r">
              <a:spcBef>
                <a:spcPts val="0"/>
              </a:spcBef>
              <a:buNone/>
              <a:defRPr b="0" i="0" sz="1600" u="none" cap="none" strike="noStrike">
                <a:solidFill>
                  <a:srgbClr val="1C7DDB"/>
                </a:solidFill>
                <a:latin typeface="Arial"/>
                <a:ea typeface="Arial"/>
                <a:cs typeface="Arial"/>
                <a:sym typeface="Arial"/>
              </a:defRPr>
            </a:lvl8pPr>
            <a:lvl9pPr indent="0" lvl="8" marL="0" marR="0" rtl="0" algn="r">
              <a:spcBef>
                <a:spcPts val="0"/>
              </a:spcBef>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hyperlink" Target="https://api.spacexdata.com/v4/rocket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hyperlink" Target="https://en.wikipedia.org/wiki/List_of_Cape_Canaveral_and_Merritt_Island_launch_sites" TargetMode="External"/><Relationship Id="rId5"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png"/><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9.png"/><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9.png"/><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9.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9.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9.png"/><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9.png"/><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9.png"/></Relationships>
</file>

<file path=ppt/slides/_rels/slide49.xml.rels><?xml version="1.0" encoding="UTF-8" standalone="yes"?><Relationships xmlns="http://schemas.openxmlformats.org/package/2006/relationships"><Relationship Id="rId11" Type="http://schemas.openxmlformats.org/officeDocument/2006/relationships/hyperlink" Target="https://en.wikipedia.org/wiki/International_Space_Station" TargetMode="External"/><Relationship Id="rId10" Type="http://schemas.openxmlformats.org/officeDocument/2006/relationships/hyperlink" Target="https://en.wikipedia.org/wiki/Highly_elliptical_orbit" TargetMode="External"/><Relationship Id="rId13" Type="http://schemas.openxmlformats.org/officeDocument/2006/relationships/hyperlink" Target="https://en.wikipedia.org/wiki/List_of_orbits" TargetMode="External"/><Relationship Id="rId12" Type="http://schemas.openxmlformats.org/officeDocument/2006/relationships/hyperlink" Target="https://en.wikipedia.org/wiki/List_of_orbits" TargetMode="External"/><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9.png"/><Relationship Id="rId4" Type="http://schemas.openxmlformats.org/officeDocument/2006/relationships/image" Target="../media/image31.png"/><Relationship Id="rId9" Type="http://schemas.openxmlformats.org/officeDocument/2006/relationships/hyperlink" Target="https://en.wikipedia.org/wiki/Lagrange_point#L1_point" TargetMode="External"/><Relationship Id="rId15" Type="http://schemas.openxmlformats.org/officeDocument/2006/relationships/hyperlink" Target="https://en.wikipedia.org/wiki/Polar_orbit" TargetMode="External"/><Relationship Id="rId14" Type="http://schemas.openxmlformats.org/officeDocument/2006/relationships/hyperlink" Target="https://en.wikipedia.org/wiki/Geostationary_orbit" TargetMode="External"/><Relationship Id="rId5" Type="http://schemas.openxmlformats.org/officeDocument/2006/relationships/hyperlink" Target="https://en.wikipedia.org/wiki/Low_Earth_orbit" TargetMode="External"/><Relationship Id="rId6" Type="http://schemas.openxmlformats.org/officeDocument/2006/relationships/hyperlink" Target="https://www.researchgate.net/publication/271499606_Very_Low_Earth_Orbit_mission_concepts_for_Earth_Observation_Benefits_and_challenges" TargetMode="External"/><Relationship Id="rId7" Type="http://schemas.openxmlformats.org/officeDocument/2006/relationships/hyperlink" Target="https://www.space.com/29222-geosynchronous-orbit.html" TargetMode="External"/><Relationship Id="rId8" Type="http://schemas.openxmlformats.org/officeDocument/2006/relationships/hyperlink" Target="https://en.wikipedia.org/wiki/Sun-synchronous_orbit"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3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sp>
        <p:nvSpPr>
          <p:cNvPr id="86" name="Google Shape;86;p1"/>
          <p:cNvSpPr txBox="1"/>
          <p:nvPr/>
        </p:nvSpPr>
        <p:spPr>
          <a:xfrm>
            <a:off x="888546" y="4568734"/>
            <a:ext cx="2514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2"/>
                </a:solidFill>
              </a:rPr>
              <a:t>Gunter Nembach</a:t>
            </a:r>
            <a:endParaRPr/>
          </a:p>
          <a:p>
            <a:pPr indent="0" lvl="0" marL="0" marR="0" rtl="0" algn="l">
              <a:spcBef>
                <a:spcPts val="0"/>
              </a:spcBef>
              <a:spcAft>
                <a:spcPts val="0"/>
              </a:spcAft>
              <a:buNone/>
            </a:pPr>
            <a:r>
              <a:rPr lang="en-US" sz="1800">
                <a:solidFill>
                  <a:schemeClr val="lt2"/>
                </a:solidFill>
              </a:rPr>
              <a:t>15.05.2026</a:t>
            </a:r>
            <a:endParaRPr/>
          </a:p>
        </p:txBody>
      </p:sp>
      <p:pic>
        <p:nvPicPr>
          <p:cNvPr descr="IBM Skills Network Logo - Horizontal-noai copy.png" id="87" name="Google Shape;87;p1"/>
          <p:cNvPicPr preferRelativeResize="0"/>
          <p:nvPr/>
        </p:nvPicPr>
        <p:blipFill rotWithShape="1">
          <a:blip r:embed="rId4">
            <a:alphaModFix/>
          </a:blip>
          <a:srcRect b="0" l="0" r="0" t="0"/>
          <a:stretch/>
        </p:blipFill>
        <p:spPr>
          <a:xfrm>
            <a:off x="889820" y="676828"/>
            <a:ext cx="2104103" cy="629183"/>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2"/>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94" name="Google Shape;94;p2"/>
          <p:cNvSpPr txBox="1"/>
          <p:nvPr/>
        </p:nvSpPr>
        <p:spPr>
          <a:xfrm>
            <a:off x="958697" y="2113240"/>
            <a:ext cx="5167086" cy="332082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latin typeface="Arial"/>
                <a:ea typeface="Arial"/>
                <a:cs typeface="Arial"/>
                <a:sym typeface="Arial"/>
              </a:rPr>
              <a:t>Executive Summary</a:t>
            </a:r>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latin typeface="Arial"/>
                <a:ea typeface="Arial"/>
                <a:cs typeface="Arial"/>
                <a:sym typeface="Arial"/>
              </a:rPr>
              <a:t>Introduction</a:t>
            </a:r>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latin typeface="Arial"/>
                <a:ea typeface="Arial"/>
                <a:cs typeface="Arial"/>
                <a:sym typeface="Arial"/>
              </a:rPr>
              <a:t>Methodology</a:t>
            </a:r>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latin typeface="Arial"/>
                <a:ea typeface="Arial"/>
                <a:cs typeface="Arial"/>
                <a:sym typeface="Arial"/>
              </a:rPr>
              <a:t>Results</a:t>
            </a:r>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latin typeface="Arial"/>
                <a:ea typeface="Arial"/>
                <a:cs typeface="Arial"/>
                <a:sym typeface="Arial"/>
              </a:rPr>
              <a:t>Conclusion</a:t>
            </a:r>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latin typeface="Arial"/>
                <a:ea typeface="Arial"/>
                <a:cs typeface="Arial"/>
                <a:sym typeface="Arial"/>
              </a:rPr>
              <a:t>Appendix</a:t>
            </a:r>
            <a:endParaRPr/>
          </a:p>
        </p:txBody>
      </p:sp>
      <p:sp>
        <p:nvSpPr>
          <p:cNvPr id="95" name="Google Shape;95;p2"/>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Outline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sp>
        <p:nvSpPr>
          <p:cNvPr id="100" name="Google Shape;100;p3"/>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101" name="Google Shape;101;p3"/>
          <p:cNvSpPr txBox="1"/>
          <p:nvPr/>
        </p:nvSpPr>
        <p:spPr>
          <a:xfrm>
            <a:off x="958900" y="1389750"/>
            <a:ext cx="10140300" cy="47994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latin typeface="Arial"/>
                <a:ea typeface="Arial"/>
                <a:cs typeface="Arial"/>
                <a:sym typeface="Arial"/>
              </a:rPr>
              <a:t>Summary of methodologies</a:t>
            </a:r>
            <a:endParaRPr sz="2200">
              <a:solidFill>
                <a:srgbClr val="292929"/>
              </a:solidFill>
              <a:latin typeface="Arial"/>
              <a:ea typeface="Arial"/>
              <a:cs typeface="Arial"/>
              <a:sym typeface="Arial"/>
            </a:endParaRPr>
          </a:p>
          <a:p>
            <a:pPr indent="0" lvl="0" marL="457200" marR="0" rtl="0" algn="l">
              <a:lnSpc>
                <a:spcPct val="100000"/>
              </a:lnSpc>
              <a:spcBef>
                <a:spcPts val="0"/>
              </a:spcBef>
              <a:spcAft>
                <a:spcPts val="0"/>
              </a:spcAft>
              <a:buNone/>
            </a:pPr>
            <a:r>
              <a:t/>
            </a:r>
            <a:endParaRPr sz="2200">
              <a:solidFill>
                <a:srgbClr val="292929"/>
              </a:solidFill>
            </a:endParaRPr>
          </a:p>
          <a:p>
            <a:pPr indent="-368300" lvl="1" marL="914400" marR="0" rtl="0" algn="l">
              <a:lnSpc>
                <a:spcPct val="100000"/>
              </a:lnSpc>
              <a:spcBef>
                <a:spcPts val="0"/>
              </a:spcBef>
              <a:spcAft>
                <a:spcPts val="0"/>
              </a:spcAft>
              <a:buClr>
                <a:srgbClr val="292929"/>
              </a:buClr>
              <a:buSzPts val="2200"/>
              <a:buChar char="○"/>
            </a:pPr>
            <a:r>
              <a:rPr lang="en-US" sz="2200">
                <a:solidFill>
                  <a:srgbClr val="292929"/>
                </a:solidFill>
              </a:rPr>
              <a:t>Request data via SpaceX API &amp; </a:t>
            </a:r>
            <a:r>
              <a:rPr lang="en-US" sz="2200">
                <a:solidFill>
                  <a:srgbClr val="292929"/>
                </a:solidFill>
              </a:rPr>
              <a:t>Web Scraping</a:t>
            </a:r>
            <a:endParaRPr sz="2200">
              <a:solidFill>
                <a:srgbClr val="292929"/>
              </a:solidFill>
            </a:endParaRPr>
          </a:p>
          <a:p>
            <a:pPr indent="-368300" lvl="1" marL="914400" marR="0" rtl="0" algn="l">
              <a:lnSpc>
                <a:spcPct val="100000"/>
              </a:lnSpc>
              <a:spcBef>
                <a:spcPts val="0"/>
              </a:spcBef>
              <a:spcAft>
                <a:spcPts val="0"/>
              </a:spcAft>
              <a:buClr>
                <a:srgbClr val="292929"/>
              </a:buClr>
              <a:buSzPts val="2200"/>
              <a:buChar char="○"/>
            </a:pPr>
            <a:r>
              <a:rPr lang="en-US" sz="2200">
                <a:solidFill>
                  <a:srgbClr val="292929"/>
                </a:solidFill>
              </a:rPr>
              <a:t>Clean and normalize data using Python</a:t>
            </a:r>
            <a:endParaRPr sz="2200">
              <a:solidFill>
                <a:srgbClr val="292929"/>
              </a:solidFill>
            </a:endParaRPr>
          </a:p>
          <a:p>
            <a:pPr indent="-368300" lvl="1" marL="914400" marR="0" rtl="0" algn="l">
              <a:lnSpc>
                <a:spcPct val="100000"/>
              </a:lnSpc>
              <a:spcBef>
                <a:spcPts val="0"/>
              </a:spcBef>
              <a:spcAft>
                <a:spcPts val="0"/>
              </a:spcAft>
              <a:buClr>
                <a:srgbClr val="292929"/>
              </a:buClr>
              <a:buSzPts val="2200"/>
              <a:buChar char="○"/>
            </a:pPr>
            <a:r>
              <a:rPr lang="en-US" sz="2200">
                <a:solidFill>
                  <a:srgbClr val="292929"/>
                </a:solidFill>
              </a:rPr>
              <a:t>EDA (exploratory data analysis): data wrangling/ missing values with Python &amp; SQL</a:t>
            </a:r>
            <a:endParaRPr sz="2200">
              <a:solidFill>
                <a:srgbClr val="292929"/>
              </a:solidFill>
            </a:endParaRPr>
          </a:p>
          <a:p>
            <a:pPr indent="-368300" lvl="1" marL="914400" marR="0" rtl="0" algn="l">
              <a:lnSpc>
                <a:spcPct val="100000"/>
              </a:lnSpc>
              <a:spcBef>
                <a:spcPts val="0"/>
              </a:spcBef>
              <a:spcAft>
                <a:spcPts val="0"/>
              </a:spcAft>
              <a:buClr>
                <a:srgbClr val="292929"/>
              </a:buClr>
              <a:buSzPts val="2200"/>
              <a:buChar char="○"/>
            </a:pPr>
            <a:r>
              <a:rPr lang="en-US" sz="2200">
                <a:solidFill>
                  <a:srgbClr val="292929"/>
                </a:solidFill>
              </a:rPr>
              <a:t>Visual Data analysis with Python/ Plotly/ Folio</a:t>
            </a:r>
            <a:endParaRPr sz="2200">
              <a:solidFill>
                <a:srgbClr val="292929"/>
              </a:solidFill>
            </a:endParaRPr>
          </a:p>
          <a:p>
            <a:pPr indent="0" lvl="0" marL="0" marR="0" rtl="0" algn="l">
              <a:lnSpc>
                <a:spcPct val="100000"/>
              </a:lnSpc>
              <a:spcBef>
                <a:spcPts val="1400"/>
              </a:spcBef>
              <a:spcAft>
                <a:spcPts val="0"/>
              </a:spcAft>
              <a:buNone/>
            </a:pPr>
            <a:r>
              <a:t/>
            </a:r>
            <a:endParaRPr sz="903">
              <a:solidFill>
                <a:srgbClr val="292929"/>
              </a:solidFill>
            </a:endParaRPr>
          </a:p>
        </p:txBody>
      </p:sp>
      <p:sp>
        <p:nvSpPr>
          <p:cNvPr id="102" name="Google Shape;102;p3"/>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Executive Summary</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g3e232117b7d_0_14"/>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108" name="Google Shape;108;g3e232117b7d_0_14"/>
          <p:cNvSpPr txBox="1"/>
          <p:nvPr/>
        </p:nvSpPr>
        <p:spPr>
          <a:xfrm>
            <a:off x="958900" y="1389750"/>
            <a:ext cx="10140300" cy="4799400"/>
          </a:xfrm>
          <a:prstGeom prst="rect">
            <a:avLst/>
          </a:prstGeom>
          <a:noFill/>
          <a:ln>
            <a:noFill/>
          </a:ln>
        </p:spPr>
        <p:txBody>
          <a:bodyPr anchorCtr="0" anchor="t" bIns="45700" lIns="91425" spcFirstLastPara="1" rIns="91425" wrap="square" tIns="45700">
            <a:normAutofit fontScale="85000" lnSpcReduction="20000"/>
          </a:bodyPr>
          <a:lstStyle/>
          <a:p>
            <a:pPr indent="-207645" lvl="0" marL="228600" marR="0" rtl="0" algn="l">
              <a:lnSpc>
                <a:spcPct val="100000"/>
              </a:lnSpc>
              <a:spcBef>
                <a:spcPts val="1400"/>
              </a:spcBef>
              <a:spcAft>
                <a:spcPts val="0"/>
              </a:spcAft>
              <a:buClr>
                <a:srgbClr val="292929"/>
              </a:buClr>
              <a:buSzPct val="100000"/>
              <a:buFont typeface="Arial"/>
              <a:buChar char="•"/>
            </a:pPr>
            <a:r>
              <a:rPr lang="en-US" sz="2200">
                <a:solidFill>
                  <a:srgbClr val="292929"/>
                </a:solidFill>
                <a:latin typeface="Arial"/>
                <a:ea typeface="Arial"/>
                <a:cs typeface="Arial"/>
                <a:sym typeface="Arial"/>
              </a:rPr>
              <a:t>Summary of all results</a:t>
            </a:r>
            <a:endParaRPr sz="2200">
              <a:solidFill>
                <a:srgbClr val="292929"/>
              </a:solidFill>
              <a:latin typeface="Arial"/>
              <a:ea typeface="Arial"/>
              <a:cs typeface="Arial"/>
              <a:sym typeface="Arial"/>
            </a:endParaRPr>
          </a:p>
          <a:p>
            <a:pPr indent="-347345" lvl="1" marL="914400" marR="0" rtl="0" algn="l">
              <a:lnSpc>
                <a:spcPct val="100000"/>
              </a:lnSpc>
              <a:spcBef>
                <a:spcPts val="1400"/>
              </a:spcBef>
              <a:spcAft>
                <a:spcPts val="0"/>
              </a:spcAft>
              <a:buClr>
                <a:srgbClr val="292929"/>
              </a:buClr>
              <a:buSzPct val="100000"/>
              <a:buChar char="○"/>
            </a:pPr>
            <a:r>
              <a:rPr lang="en-US" sz="2200">
                <a:solidFill>
                  <a:srgbClr val="292929"/>
                </a:solidFill>
              </a:rPr>
              <a:t>Falcon 9: Launches for each site</a:t>
            </a:r>
            <a:endParaRPr sz="2200">
              <a:solidFill>
                <a:srgbClr val="292929"/>
              </a:solidFill>
            </a:endParaRPr>
          </a:p>
          <a:p>
            <a:pPr indent="-347345" lvl="2" marL="1371600" marR="0" rtl="0" algn="l">
              <a:lnSpc>
                <a:spcPct val="100000"/>
              </a:lnSpc>
              <a:spcBef>
                <a:spcPts val="1400"/>
              </a:spcBef>
              <a:spcAft>
                <a:spcPts val="0"/>
              </a:spcAft>
              <a:buClr>
                <a:srgbClr val="292929"/>
              </a:buClr>
              <a:buSzPct val="100000"/>
              <a:buChar char="■"/>
            </a:pPr>
            <a:r>
              <a:rPr lang="en-US" sz="2200">
                <a:solidFill>
                  <a:srgbClr val="292929"/>
                </a:solidFill>
              </a:rPr>
              <a:t>Cape Canaveral, SLC 40: 55</a:t>
            </a:r>
            <a:endParaRPr sz="2200">
              <a:solidFill>
                <a:srgbClr val="292929"/>
              </a:solidFill>
            </a:endParaRPr>
          </a:p>
          <a:p>
            <a:pPr indent="-347345" lvl="2" marL="1371600" marR="0" rtl="0" algn="l">
              <a:lnSpc>
                <a:spcPct val="100000"/>
              </a:lnSpc>
              <a:spcBef>
                <a:spcPts val="1400"/>
              </a:spcBef>
              <a:spcAft>
                <a:spcPts val="0"/>
              </a:spcAft>
              <a:buClr>
                <a:srgbClr val="292929"/>
              </a:buClr>
              <a:buSzPct val="100000"/>
              <a:buChar char="■"/>
            </a:pPr>
            <a:r>
              <a:rPr lang="en-US" sz="2200">
                <a:solidFill>
                  <a:srgbClr val="292929"/>
                </a:solidFill>
              </a:rPr>
              <a:t>Kennedy, LC-39A: 22</a:t>
            </a:r>
            <a:endParaRPr sz="2200">
              <a:solidFill>
                <a:srgbClr val="292929"/>
              </a:solidFill>
            </a:endParaRPr>
          </a:p>
          <a:p>
            <a:pPr indent="-347345" lvl="2" marL="1371600" marR="0" rtl="0" algn="l">
              <a:lnSpc>
                <a:spcPct val="100000"/>
              </a:lnSpc>
              <a:spcBef>
                <a:spcPts val="1400"/>
              </a:spcBef>
              <a:spcAft>
                <a:spcPts val="0"/>
              </a:spcAft>
              <a:buClr>
                <a:srgbClr val="292929"/>
              </a:buClr>
              <a:buSzPct val="100000"/>
              <a:buChar char="■"/>
            </a:pPr>
            <a:r>
              <a:rPr lang="en-US" sz="2200">
                <a:solidFill>
                  <a:srgbClr val="292929"/>
                </a:solidFill>
              </a:rPr>
              <a:t>Vandenberg, SLC-4E: 13</a:t>
            </a:r>
            <a:endParaRPr sz="2200">
              <a:solidFill>
                <a:srgbClr val="292929"/>
              </a:solidFill>
            </a:endParaRPr>
          </a:p>
          <a:p>
            <a:pPr indent="-347345" lvl="1" marL="914400" marR="0" rtl="0" algn="l">
              <a:lnSpc>
                <a:spcPct val="100000"/>
              </a:lnSpc>
              <a:spcBef>
                <a:spcPts val="1400"/>
              </a:spcBef>
              <a:spcAft>
                <a:spcPts val="0"/>
              </a:spcAft>
              <a:buClr>
                <a:srgbClr val="292929"/>
              </a:buClr>
              <a:buSzPct val="100000"/>
              <a:buChar char="○"/>
            </a:pPr>
            <a:r>
              <a:rPr lang="en-US" sz="2200">
                <a:solidFill>
                  <a:srgbClr val="292929"/>
                </a:solidFill>
              </a:rPr>
              <a:t>Falcon 9: Top 5 Orbits*</a:t>
            </a:r>
            <a:endParaRPr sz="2200">
              <a:solidFill>
                <a:srgbClr val="292929"/>
              </a:solidFill>
            </a:endParaRPr>
          </a:p>
          <a:p>
            <a:pPr indent="-347345" lvl="2" marL="1371600" marR="0" rtl="0" algn="l">
              <a:lnSpc>
                <a:spcPct val="100000"/>
              </a:lnSpc>
              <a:spcBef>
                <a:spcPts val="1400"/>
              </a:spcBef>
              <a:spcAft>
                <a:spcPts val="0"/>
              </a:spcAft>
              <a:buClr>
                <a:srgbClr val="292929"/>
              </a:buClr>
              <a:buSzPct val="100000"/>
              <a:buChar char="■"/>
            </a:pPr>
            <a:r>
              <a:rPr lang="en-US" sz="2200">
                <a:solidFill>
                  <a:srgbClr val="292929"/>
                </a:solidFill>
              </a:rPr>
              <a:t>ISS (21), VLEO(14), PO(9), LEO(7),SSO(5)</a:t>
            </a:r>
            <a:endParaRPr sz="2200">
              <a:solidFill>
                <a:srgbClr val="292929"/>
              </a:solidFill>
            </a:endParaRPr>
          </a:p>
          <a:p>
            <a:pPr indent="-347345" lvl="1" marL="914400" marR="0" rtl="0" algn="l">
              <a:lnSpc>
                <a:spcPct val="100000"/>
              </a:lnSpc>
              <a:spcBef>
                <a:spcPts val="1400"/>
              </a:spcBef>
              <a:spcAft>
                <a:spcPts val="0"/>
              </a:spcAft>
              <a:buClr>
                <a:srgbClr val="292929"/>
              </a:buClr>
              <a:buSzPct val="100000"/>
              <a:buChar char="○"/>
            </a:pPr>
            <a:r>
              <a:rPr lang="en-US" sz="2200">
                <a:solidFill>
                  <a:srgbClr val="292929"/>
                </a:solidFill>
              </a:rPr>
              <a:t>Falcon 9: Top 3 Mission outcomes</a:t>
            </a:r>
            <a:endParaRPr sz="2200">
              <a:solidFill>
                <a:srgbClr val="292929"/>
              </a:solidFill>
            </a:endParaRPr>
          </a:p>
          <a:p>
            <a:pPr indent="-347345" lvl="2" marL="1371600" marR="0" rtl="0" algn="l">
              <a:lnSpc>
                <a:spcPct val="100000"/>
              </a:lnSpc>
              <a:spcBef>
                <a:spcPts val="1400"/>
              </a:spcBef>
              <a:spcAft>
                <a:spcPts val="0"/>
              </a:spcAft>
              <a:buClr>
                <a:srgbClr val="292929"/>
              </a:buClr>
              <a:buSzPct val="100000"/>
              <a:buChar char="■"/>
            </a:pPr>
            <a:r>
              <a:rPr lang="en-US" sz="2200">
                <a:solidFill>
                  <a:srgbClr val="292929"/>
                </a:solidFill>
              </a:rPr>
              <a:t>Landing Droneship: 41</a:t>
            </a:r>
            <a:endParaRPr sz="2200">
              <a:solidFill>
                <a:srgbClr val="292929"/>
              </a:solidFill>
            </a:endParaRPr>
          </a:p>
          <a:p>
            <a:pPr indent="-347345" lvl="2" marL="1371600" marR="0" rtl="0" algn="l">
              <a:lnSpc>
                <a:spcPct val="100000"/>
              </a:lnSpc>
              <a:spcBef>
                <a:spcPts val="1400"/>
              </a:spcBef>
              <a:spcAft>
                <a:spcPts val="0"/>
              </a:spcAft>
              <a:buClr>
                <a:srgbClr val="292929"/>
              </a:buClr>
              <a:buSzPct val="100000"/>
              <a:buChar char="■"/>
            </a:pPr>
            <a:r>
              <a:rPr lang="en-US" sz="2200">
                <a:solidFill>
                  <a:srgbClr val="292929"/>
                </a:solidFill>
              </a:rPr>
              <a:t>Failure Landing: 19</a:t>
            </a:r>
            <a:endParaRPr sz="2200">
              <a:solidFill>
                <a:srgbClr val="292929"/>
              </a:solidFill>
            </a:endParaRPr>
          </a:p>
          <a:p>
            <a:pPr indent="-347345" lvl="2" marL="1371600" marR="0" rtl="0" algn="l">
              <a:lnSpc>
                <a:spcPct val="100000"/>
              </a:lnSpc>
              <a:spcBef>
                <a:spcPts val="1400"/>
              </a:spcBef>
              <a:spcAft>
                <a:spcPts val="0"/>
              </a:spcAft>
              <a:buClr>
                <a:srgbClr val="292929"/>
              </a:buClr>
              <a:buSzPct val="100000"/>
              <a:buChar char="■"/>
            </a:pPr>
            <a:r>
              <a:rPr lang="en-US" sz="2200">
                <a:solidFill>
                  <a:srgbClr val="292929"/>
                </a:solidFill>
              </a:rPr>
              <a:t>Landing Ground Pad: 14</a:t>
            </a:r>
            <a:endParaRPr sz="2200">
              <a:solidFill>
                <a:srgbClr val="292929"/>
              </a:solidFill>
            </a:endParaRPr>
          </a:p>
          <a:p>
            <a:pPr indent="0" lvl="0" marL="0" marR="0" rtl="0" algn="l">
              <a:lnSpc>
                <a:spcPct val="100000"/>
              </a:lnSpc>
              <a:spcBef>
                <a:spcPts val="1400"/>
              </a:spcBef>
              <a:spcAft>
                <a:spcPts val="0"/>
              </a:spcAft>
              <a:buNone/>
            </a:pPr>
            <a:r>
              <a:rPr lang="en-US" sz="903">
                <a:solidFill>
                  <a:srgbClr val="292929"/>
                </a:solidFill>
              </a:rPr>
              <a:t>* see appendix for orbit overview</a:t>
            </a:r>
            <a:endParaRPr sz="903">
              <a:solidFill>
                <a:srgbClr val="292929"/>
              </a:solidFill>
            </a:endParaRPr>
          </a:p>
        </p:txBody>
      </p:sp>
      <p:sp>
        <p:nvSpPr>
          <p:cNvPr id="109" name="Google Shape;109;g3e232117b7d_0_14"/>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latin typeface="Arial"/>
                <a:ea typeface="Arial"/>
                <a:cs typeface="Arial"/>
                <a:sym typeface="Arial"/>
              </a:rPr>
              <a:t>Executive Summary</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g3e232117b7d_0_20"/>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115" name="Google Shape;115;g3e232117b7d_0_20"/>
          <p:cNvSpPr txBox="1"/>
          <p:nvPr/>
        </p:nvSpPr>
        <p:spPr>
          <a:xfrm>
            <a:off x="958900" y="1389750"/>
            <a:ext cx="10140300" cy="47994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latin typeface="Arial"/>
                <a:ea typeface="Arial"/>
                <a:cs typeface="Arial"/>
                <a:sym typeface="Arial"/>
              </a:rPr>
              <a:t>Summary of all results</a:t>
            </a:r>
            <a:endParaRPr sz="2200">
              <a:solidFill>
                <a:srgbClr val="292929"/>
              </a:solidFill>
              <a:latin typeface="Arial"/>
              <a:ea typeface="Arial"/>
              <a:cs typeface="Arial"/>
              <a:sym typeface="Aria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Higher Flight Numbers -&gt; higher </a:t>
            </a:r>
            <a:r>
              <a:rPr lang="en-US" sz="2200">
                <a:solidFill>
                  <a:srgbClr val="292929"/>
                </a:solidFill>
              </a:rPr>
              <a:t>Payload</a:t>
            </a:r>
            <a:r>
              <a:rPr lang="en-US" sz="2200">
                <a:solidFill>
                  <a:srgbClr val="292929"/>
                </a:solidFill>
              </a:rPr>
              <a:t> Mass/ success Rate</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No </a:t>
            </a:r>
            <a:r>
              <a:rPr lang="en-US" sz="2200">
                <a:solidFill>
                  <a:srgbClr val="292929"/>
                </a:solidFill>
              </a:rPr>
              <a:t>Payload</a:t>
            </a:r>
            <a:r>
              <a:rPr lang="en-US" sz="2200">
                <a:solidFill>
                  <a:srgbClr val="292929"/>
                </a:solidFill>
              </a:rPr>
              <a:t> Mass &gt; 10t from Vandenberg 4E</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100% Success Rate - Orbits: ES-L1 / GEO/ HEO/ SSO*</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Target Orbits with Payload &gt;8t: ISS/ PO/ VLEO</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Avoid proximities to railway/ cities/ highways -&gt; safety</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Positiv proximities to ocean/ equator -&gt; safety / energy consumption</a:t>
            </a:r>
            <a:endParaRPr sz="2200">
              <a:solidFill>
                <a:srgbClr val="292929"/>
              </a:solidFill>
            </a:endParaRPr>
          </a:p>
          <a:p>
            <a:pPr indent="0" lvl="0" marL="0" marR="0" rtl="0" algn="l">
              <a:lnSpc>
                <a:spcPct val="100000"/>
              </a:lnSpc>
              <a:spcBef>
                <a:spcPts val="1400"/>
              </a:spcBef>
              <a:spcAft>
                <a:spcPts val="0"/>
              </a:spcAft>
              <a:buNone/>
            </a:pPr>
            <a:r>
              <a:t/>
            </a:r>
            <a:endParaRPr sz="903">
              <a:solidFill>
                <a:srgbClr val="292929"/>
              </a:solidFill>
            </a:endParaRPr>
          </a:p>
        </p:txBody>
      </p:sp>
      <p:sp>
        <p:nvSpPr>
          <p:cNvPr id="116" name="Google Shape;116;g3e232117b7d_0_20"/>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latin typeface="Arial"/>
                <a:ea typeface="Arial"/>
                <a:cs typeface="Arial"/>
                <a:sym typeface="Arial"/>
              </a:rPr>
              <a:t>Executive Summary</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sp>
        <p:nvSpPr>
          <p:cNvPr id="121" name="Google Shape;121;p4"/>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122" name="Google Shape;122;p4"/>
          <p:cNvSpPr txBox="1"/>
          <p:nvPr/>
        </p:nvSpPr>
        <p:spPr>
          <a:xfrm>
            <a:off x="828068" y="538650"/>
            <a:ext cx="10530114"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Introduction</a:t>
            </a:r>
            <a:endParaRPr sz="4000">
              <a:solidFill>
                <a:srgbClr val="0B49CB"/>
              </a:solidFill>
              <a:latin typeface="IBM Plex Mono SemiBold"/>
              <a:ea typeface="IBM Plex Mono SemiBold"/>
              <a:cs typeface="IBM Plex Mono SemiBold"/>
              <a:sym typeface="IBM Plex Mono SemiBold"/>
            </a:endParaRPr>
          </a:p>
        </p:txBody>
      </p:sp>
      <p:sp>
        <p:nvSpPr>
          <p:cNvPr id="123" name="Google Shape;123;p4"/>
          <p:cNvSpPr txBox="1"/>
          <p:nvPr/>
        </p:nvSpPr>
        <p:spPr>
          <a:xfrm>
            <a:off x="958700" y="1423300"/>
            <a:ext cx="10399500" cy="50904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292929"/>
              </a:buClr>
              <a:buSzPts val="2200"/>
              <a:buFont typeface="Arial"/>
              <a:buChar char="•"/>
            </a:pPr>
            <a:r>
              <a:rPr lang="en-US" sz="2200">
                <a:solidFill>
                  <a:srgbClr val="292929"/>
                </a:solidFill>
                <a:latin typeface="Arial"/>
                <a:ea typeface="Arial"/>
                <a:cs typeface="Arial"/>
                <a:sym typeface="Arial"/>
              </a:rPr>
              <a:t>Project background and context</a:t>
            </a:r>
            <a:endParaRPr sz="2200">
              <a:solidFill>
                <a:srgbClr val="292929"/>
              </a:solidFill>
              <a:latin typeface="Arial"/>
              <a:ea typeface="Arial"/>
              <a:cs typeface="Arial"/>
              <a:sym typeface="Arial"/>
            </a:endParaRPr>
          </a:p>
          <a:p>
            <a:pPr indent="0" lvl="0" marL="457200" rtl="0" algn="l">
              <a:lnSpc>
                <a:spcPct val="115000"/>
              </a:lnSpc>
              <a:spcBef>
                <a:spcPts val="600"/>
              </a:spcBef>
              <a:spcAft>
                <a:spcPts val="0"/>
              </a:spcAft>
              <a:buNone/>
            </a:pPr>
            <a:r>
              <a:rPr lang="en-US" sz="1200">
                <a:solidFill>
                  <a:schemeClr val="dk1"/>
                </a:solidFill>
                <a:latin typeface="Georgia"/>
                <a:ea typeface="Georgia"/>
                <a:cs typeface="Georgia"/>
                <a:sym typeface="Georgia"/>
              </a:rPr>
              <a:t>SpaceX operates Starlink satellite internet and significantly reduces launch costs through reusable Falcon 9 rockets (about $62 million vs. over $165 million). A key factor is whether the first stage successfully lands and can be reused, since it performs most of the work and represents a major portion of the cost.</a:t>
            </a:r>
            <a:endParaRPr sz="1200">
              <a:solidFill>
                <a:schemeClr val="dk1"/>
              </a:solidFill>
              <a:latin typeface="Georgia"/>
              <a:ea typeface="Georgia"/>
              <a:cs typeface="Georgia"/>
              <a:sym typeface="Georgia"/>
            </a:endParaRPr>
          </a:p>
          <a:p>
            <a:pPr indent="0" lvl="0" marL="457200" rtl="0" algn="l">
              <a:lnSpc>
                <a:spcPct val="115000"/>
              </a:lnSpc>
              <a:spcBef>
                <a:spcPts val="1200"/>
              </a:spcBef>
              <a:spcAft>
                <a:spcPts val="0"/>
              </a:spcAft>
              <a:buNone/>
            </a:pPr>
            <a:r>
              <a:t/>
            </a:r>
            <a:endParaRPr sz="1200">
              <a:solidFill>
                <a:schemeClr val="dk1"/>
              </a:solidFill>
              <a:latin typeface="Georgia"/>
              <a:ea typeface="Georgia"/>
              <a:cs typeface="Georgia"/>
              <a:sym typeface="Georgia"/>
            </a:endParaRPr>
          </a:p>
          <a:p>
            <a:pPr indent="0" lvl="0" marL="457200" marR="0" rtl="0" algn="l">
              <a:lnSpc>
                <a:spcPct val="90000"/>
              </a:lnSpc>
              <a:spcBef>
                <a:spcPts val="600"/>
              </a:spcBef>
              <a:spcAft>
                <a:spcPts val="0"/>
              </a:spcAft>
              <a:buNone/>
            </a:pPr>
            <a:r>
              <a:t/>
            </a:r>
            <a:endParaRPr sz="2200">
              <a:solidFill>
                <a:schemeClr val="dk1"/>
              </a:solidFill>
            </a:endParaRPr>
          </a:p>
          <a:p>
            <a:pPr indent="-228600" lvl="0" marL="228600" marR="0" rtl="0" algn="l">
              <a:lnSpc>
                <a:spcPct val="90000"/>
              </a:lnSpc>
              <a:spcBef>
                <a:spcPts val="1400"/>
              </a:spcBef>
              <a:spcAft>
                <a:spcPts val="0"/>
              </a:spcAft>
              <a:buClr>
                <a:srgbClr val="292929"/>
              </a:buClr>
              <a:buSzPts val="2200"/>
              <a:buFont typeface="Arial"/>
              <a:buChar char="•"/>
            </a:pPr>
            <a:r>
              <a:rPr lang="en-US" sz="2200">
                <a:solidFill>
                  <a:srgbClr val="292929"/>
                </a:solidFill>
                <a:latin typeface="Arial"/>
                <a:ea typeface="Arial"/>
                <a:cs typeface="Arial"/>
                <a:sym typeface="Arial"/>
              </a:rPr>
              <a:t>Problems you want to find answers</a:t>
            </a:r>
            <a:endParaRPr sz="2200">
              <a:solidFill>
                <a:srgbClr val="292929"/>
              </a:solidFill>
              <a:latin typeface="Arial"/>
              <a:ea typeface="Arial"/>
              <a:cs typeface="Arial"/>
              <a:sym typeface="Arial"/>
            </a:endParaRPr>
          </a:p>
          <a:p>
            <a:pPr indent="0" lvl="0" marL="457200" rtl="0" algn="l">
              <a:lnSpc>
                <a:spcPct val="115000"/>
              </a:lnSpc>
              <a:spcBef>
                <a:spcPts val="1200"/>
              </a:spcBef>
              <a:spcAft>
                <a:spcPts val="600"/>
              </a:spcAft>
              <a:buNone/>
            </a:pPr>
            <a:r>
              <a:rPr lang="en-US" sz="1200">
                <a:solidFill>
                  <a:schemeClr val="dk1"/>
                </a:solidFill>
                <a:latin typeface="Georgia"/>
                <a:ea typeface="Georgia"/>
                <a:cs typeface="Georgia"/>
                <a:sym typeface="Georgia"/>
              </a:rPr>
              <a:t>As </a:t>
            </a:r>
            <a:r>
              <a:rPr lang="en-US" sz="1200">
                <a:solidFill>
                  <a:schemeClr val="dk1"/>
                </a:solidFill>
                <a:latin typeface="Georgia"/>
                <a:ea typeface="Georgia"/>
                <a:cs typeface="Georgia"/>
                <a:sym typeface="Georgia"/>
              </a:rPr>
              <a:t>data scientists at a competing company SpaceY we use public data and machine learning to predict whether the first stage will land and be reused in order to estimate launch costs and be competitive to SpaceX.</a:t>
            </a:r>
            <a:endParaRPr sz="2200">
              <a:solidFill>
                <a:srgbClr val="29292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5"/>
          <p:cNvSpPr txBox="1"/>
          <p:nvPr>
            <p:ph idx="12" type="sldNum"/>
          </p:nvPr>
        </p:nvSpPr>
        <p:spPr>
          <a:xfrm>
            <a:off x="94488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9" name="Google Shape;129;p5"/>
          <p:cNvSpPr txBox="1"/>
          <p:nvPr/>
        </p:nvSpPr>
        <p:spPr>
          <a:xfrm>
            <a:off x="765313" y="2812774"/>
            <a:ext cx="1058303" cy="369332"/>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Section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6"/>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6" name="Google Shape;136;p6"/>
          <p:cNvSpPr txBox="1"/>
          <p:nvPr/>
        </p:nvSpPr>
        <p:spPr>
          <a:xfrm>
            <a:off x="770011" y="1580808"/>
            <a:ext cx="10104817" cy="5211877"/>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lnSpc>
                <a:spcPct val="120000"/>
              </a:lnSpc>
              <a:spcBef>
                <a:spcPts val="0"/>
              </a:spcBef>
              <a:spcAft>
                <a:spcPts val="0"/>
              </a:spcAft>
              <a:buClr>
                <a:srgbClr val="0B49CB"/>
              </a:buClr>
              <a:buSzPct val="100000"/>
              <a:buFont typeface="Arial"/>
              <a:buNone/>
            </a:pPr>
            <a:r>
              <a:rPr lang="en-US" sz="8800">
                <a:solidFill>
                  <a:srgbClr val="0B49CB"/>
                </a:solidFill>
                <a:latin typeface="Arial"/>
                <a:ea typeface="Arial"/>
                <a:cs typeface="Arial"/>
                <a:sym typeface="Arial"/>
              </a:rPr>
              <a:t>Executive Summary</a:t>
            </a:r>
            <a:endParaRPr/>
          </a:p>
          <a:p>
            <a:pPr indent="-228600" lvl="0" marL="228600" marR="0" rtl="0" algn="l">
              <a:lnSpc>
                <a:spcPct val="120000"/>
              </a:lnSpc>
              <a:spcBef>
                <a:spcPts val="1400"/>
              </a:spcBef>
              <a:spcAft>
                <a:spcPts val="0"/>
              </a:spcAft>
              <a:buClr>
                <a:srgbClr val="292929"/>
              </a:buClr>
              <a:buSzPct val="100000"/>
              <a:buFont typeface="Arial"/>
              <a:buChar char="•"/>
            </a:pPr>
            <a:r>
              <a:rPr lang="en-US" sz="8800">
                <a:solidFill>
                  <a:srgbClr val="292929"/>
                </a:solidFill>
                <a:latin typeface="Arial"/>
                <a:ea typeface="Arial"/>
                <a:cs typeface="Arial"/>
                <a:sym typeface="Arial"/>
              </a:rPr>
              <a:t>Data collection methodology:</a:t>
            </a:r>
            <a:endParaRPr/>
          </a:p>
          <a:p>
            <a:pPr indent="-228600" lvl="1" marL="685800" marR="0" rtl="0" algn="l">
              <a:lnSpc>
                <a:spcPct val="120000"/>
              </a:lnSpc>
              <a:spcBef>
                <a:spcPts val="1400"/>
              </a:spcBef>
              <a:spcAft>
                <a:spcPts val="0"/>
              </a:spcAft>
              <a:buClr>
                <a:srgbClr val="757070"/>
              </a:buClr>
              <a:buSzPct val="100000"/>
              <a:buFont typeface="Arial"/>
              <a:buChar char="•"/>
            </a:pPr>
            <a:r>
              <a:rPr b="0" i="0" lang="en-US" sz="7600" u="none" cap="none" strike="noStrike">
                <a:solidFill>
                  <a:srgbClr val="757070"/>
                </a:solidFill>
                <a:latin typeface="Arial"/>
                <a:ea typeface="Arial"/>
                <a:cs typeface="Arial"/>
                <a:sym typeface="Arial"/>
              </a:rPr>
              <a:t>D</a:t>
            </a:r>
            <a:r>
              <a:rPr lang="en-US" sz="7600">
                <a:solidFill>
                  <a:srgbClr val="757070"/>
                </a:solidFill>
              </a:rPr>
              <a:t>ata collected via SpaceX API and Web Scraping</a:t>
            </a:r>
            <a:endParaRPr/>
          </a:p>
          <a:p>
            <a:pPr indent="-228600" lvl="0" marL="228600" marR="0" rtl="0" algn="l">
              <a:lnSpc>
                <a:spcPct val="120000"/>
              </a:lnSpc>
              <a:spcBef>
                <a:spcPts val="1400"/>
              </a:spcBef>
              <a:spcAft>
                <a:spcPts val="0"/>
              </a:spcAft>
              <a:buClr>
                <a:srgbClr val="292929"/>
              </a:buClr>
              <a:buSzPct val="100000"/>
              <a:buFont typeface="Arial"/>
              <a:buChar char="•"/>
            </a:pPr>
            <a:r>
              <a:rPr lang="en-US" sz="8800">
                <a:solidFill>
                  <a:srgbClr val="292929"/>
                </a:solidFill>
                <a:latin typeface="Arial"/>
                <a:ea typeface="Arial"/>
                <a:cs typeface="Arial"/>
                <a:sym typeface="Arial"/>
              </a:rPr>
              <a:t>Perform data wrangling</a:t>
            </a:r>
            <a:endParaRPr/>
          </a:p>
          <a:p>
            <a:pPr indent="-228600" lvl="1" marL="685800" marR="0" rtl="0" algn="l">
              <a:lnSpc>
                <a:spcPct val="120000"/>
              </a:lnSpc>
              <a:spcBef>
                <a:spcPts val="1400"/>
              </a:spcBef>
              <a:spcAft>
                <a:spcPts val="0"/>
              </a:spcAft>
              <a:buClr>
                <a:srgbClr val="757070"/>
              </a:buClr>
              <a:buSzPct val="100000"/>
              <a:buFont typeface="Arial"/>
              <a:buChar char="•"/>
            </a:pPr>
            <a:r>
              <a:rPr lang="en-US" sz="7600">
                <a:solidFill>
                  <a:srgbClr val="757070"/>
                </a:solidFill>
              </a:rPr>
              <a:t>Data was </a:t>
            </a:r>
            <a:r>
              <a:rPr lang="en-US" sz="7600">
                <a:solidFill>
                  <a:srgbClr val="757070"/>
                </a:solidFill>
              </a:rPr>
              <a:t>transferred</a:t>
            </a:r>
            <a:r>
              <a:rPr lang="en-US" sz="7600">
                <a:solidFill>
                  <a:srgbClr val="757070"/>
                </a:solidFill>
              </a:rPr>
              <a:t> to Panda database and missing values were cleaned</a:t>
            </a:r>
            <a:endParaRPr/>
          </a:p>
          <a:p>
            <a:pPr indent="-228600" lvl="0" marL="228600" marR="0" rtl="0" algn="l">
              <a:lnSpc>
                <a:spcPct val="120000"/>
              </a:lnSpc>
              <a:spcBef>
                <a:spcPts val="1400"/>
              </a:spcBef>
              <a:spcAft>
                <a:spcPts val="0"/>
              </a:spcAft>
              <a:buClr>
                <a:srgbClr val="292929"/>
              </a:buClr>
              <a:buSzPct val="100000"/>
              <a:buFont typeface="Arial"/>
              <a:buChar char="•"/>
            </a:pPr>
            <a:r>
              <a:rPr lang="en-US" sz="8800">
                <a:solidFill>
                  <a:srgbClr val="292929"/>
                </a:solidFill>
                <a:latin typeface="Arial"/>
                <a:ea typeface="Arial"/>
                <a:cs typeface="Arial"/>
                <a:sym typeface="Arial"/>
              </a:rPr>
              <a:t>Perform exploratory data analysis (EDA) using visualization and SQL</a:t>
            </a:r>
            <a:endParaRPr/>
          </a:p>
          <a:p>
            <a:pPr indent="-228600" lvl="0" marL="228600" marR="0" rtl="0" algn="l">
              <a:lnSpc>
                <a:spcPct val="120000"/>
              </a:lnSpc>
              <a:spcBef>
                <a:spcPts val="1400"/>
              </a:spcBef>
              <a:spcAft>
                <a:spcPts val="0"/>
              </a:spcAft>
              <a:buClr>
                <a:srgbClr val="292929"/>
              </a:buClr>
              <a:buSzPct val="100000"/>
              <a:buFont typeface="Arial"/>
              <a:buChar char="•"/>
            </a:pPr>
            <a:r>
              <a:rPr lang="en-US" sz="8800">
                <a:solidFill>
                  <a:srgbClr val="292929"/>
                </a:solidFill>
                <a:latin typeface="Arial"/>
                <a:ea typeface="Arial"/>
                <a:cs typeface="Arial"/>
                <a:sym typeface="Arial"/>
              </a:rPr>
              <a:t>Perform interactive visual analytics using Folium and Plotly Dash</a:t>
            </a:r>
            <a:endParaRPr/>
          </a:p>
          <a:p>
            <a:pPr indent="-228600" lvl="0" marL="228600" marR="0" rtl="0" algn="l">
              <a:lnSpc>
                <a:spcPct val="120000"/>
              </a:lnSpc>
              <a:spcBef>
                <a:spcPts val="1400"/>
              </a:spcBef>
              <a:spcAft>
                <a:spcPts val="0"/>
              </a:spcAft>
              <a:buClr>
                <a:srgbClr val="292929"/>
              </a:buClr>
              <a:buSzPct val="100000"/>
              <a:buFont typeface="Arial"/>
              <a:buChar char="•"/>
            </a:pPr>
            <a:r>
              <a:rPr lang="en-US" sz="8800">
                <a:solidFill>
                  <a:srgbClr val="292929"/>
                </a:solidFill>
                <a:latin typeface="Arial"/>
                <a:ea typeface="Arial"/>
                <a:cs typeface="Arial"/>
                <a:sym typeface="Arial"/>
              </a:rPr>
              <a:t>Perform predictive analysis using classification models</a:t>
            </a:r>
            <a:endParaRPr/>
          </a:p>
          <a:p>
            <a:pPr indent="-228600" lvl="1" marL="685800" marR="0" rtl="0" algn="l">
              <a:lnSpc>
                <a:spcPct val="120000"/>
              </a:lnSpc>
              <a:spcBef>
                <a:spcPts val="1400"/>
              </a:spcBef>
              <a:spcAft>
                <a:spcPts val="0"/>
              </a:spcAft>
              <a:buClr>
                <a:srgbClr val="757070"/>
              </a:buClr>
              <a:buSzPct val="100000"/>
              <a:buFont typeface="Arial"/>
              <a:buChar char="•"/>
            </a:pPr>
            <a:r>
              <a:rPr lang="en-US" sz="7600">
                <a:solidFill>
                  <a:srgbClr val="757070"/>
                </a:solidFill>
              </a:rPr>
              <a:t>Dividing the dataset into test- and training data, using different classification models like KNN/ Logistic Regression/ … and tuning Hyperparameters with GridSearchCV</a:t>
            </a:r>
            <a:endParaRPr/>
          </a:p>
          <a:p>
            <a:pPr indent="-88900" lvl="0" marL="228600" marR="0" rtl="0" algn="l">
              <a:lnSpc>
                <a:spcPct val="120000"/>
              </a:lnSpc>
              <a:spcBef>
                <a:spcPts val="1400"/>
              </a:spcBef>
              <a:spcAft>
                <a:spcPts val="0"/>
              </a:spcAft>
              <a:buClr>
                <a:srgbClr val="0070C0"/>
              </a:buClr>
              <a:buSzPct val="100000"/>
              <a:buFont typeface="Arial"/>
              <a:buNone/>
            </a:pPr>
            <a:r>
              <a:t/>
            </a:r>
            <a:endParaRPr sz="8800">
              <a:solidFill>
                <a:srgbClr val="292929"/>
              </a:solidFill>
              <a:latin typeface="Arial"/>
              <a:ea typeface="Arial"/>
              <a:cs typeface="Arial"/>
              <a:sym typeface="Arial"/>
            </a:endParaRPr>
          </a:p>
          <a:p>
            <a:pPr indent="-193675" lvl="0" marL="228600" marR="0" rtl="0" algn="l">
              <a:lnSpc>
                <a:spcPct val="100000"/>
              </a:lnSpc>
              <a:spcBef>
                <a:spcPts val="1400"/>
              </a:spcBef>
              <a:spcAft>
                <a:spcPts val="0"/>
              </a:spcAft>
              <a:buClr>
                <a:srgbClr val="0070C0"/>
              </a:buClr>
              <a:buSzPct val="100000"/>
              <a:buFont typeface="Arial"/>
              <a:buNone/>
            </a:pPr>
            <a:r>
              <a:t/>
            </a:r>
            <a:endParaRPr sz="2200">
              <a:solidFill>
                <a:srgbClr val="292929"/>
              </a:solidFill>
              <a:latin typeface="Arial"/>
              <a:ea typeface="Arial"/>
              <a:cs typeface="Arial"/>
              <a:sym typeface="Arial"/>
            </a:endParaRPr>
          </a:p>
          <a:p>
            <a:pPr indent="-193675" lvl="0" marL="228600" marR="0" rtl="0" algn="l">
              <a:lnSpc>
                <a:spcPct val="100000"/>
              </a:lnSpc>
              <a:spcBef>
                <a:spcPts val="1400"/>
              </a:spcBef>
              <a:spcAft>
                <a:spcPts val="0"/>
              </a:spcAft>
              <a:buClr>
                <a:srgbClr val="0070C0"/>
              </a:buClr>
              <a:buSzPct val="100000"/>
              <a:buFont typeface="Arial"/>
              <a:buNone/>
            </a:pPr>
            <a:r>
              <a:t/>
            </a:r>
            <a:endParaRPr sz="2200">
              <a:solidFill>
                <a:srgbClr val="292929"/>
              </a:solidFill>
              <a:latin typeface="Arial"/>
              <a:ea typeface="Arial"/>
              <a:cs typeface="Arial"/>
              <a:sym typeface="Arial"/>
            </a:endParaRPr>
          </a:p>
          <a:p>
            <a:pPr indent="-193675" lvl="0" marL="228600" marR="0" rtl="0" algn="l">
              <a:lnSpc>
                <a:spcPct val="100000"/>
              </a:lnSpc>
              <a:spcBef>
                <a:spcPts val="1400"/>
              </a:spcBef>
              <a:spcAft>
                <a:spcPts val="0"/>
              </a:spcAft>
              <a:buClr>
                <a:srgbClr val="0070C0"/>
              </a:buClr>
              <a:buSzPct val="100000"/>
              <a:buFont typeface="Arial"/>
              <a:buNone/>
            </a:pPr>
            <a:r>
              <a:t/>
            </a:r>
            <a:endParaRPr sz="2200">
              <a:solidFill>
                <a:srgbClr val="292929"/>
              </a:solidFill>
              <a:latin typeface="Arial"/>
              <a:ea typeface="Arial"/>
              <a:cs typeface="Arial"/>
              <a:sym typeface="Arial"/>
            </a:endParaRPr>
          </a:p>
          <a:p>
            <a:pPr indent="-193675" lvl="0" marL="228600" marR="0" rtl="0" algn="l">
              <a:lnSpc>
                <a:spcPct val="100000"/>
              </a:lnSpc>
              <a:spcBef>
                <a:spcPts val="1400"/>
              </a:spcBef>
              <a:spcAft>
                <a:spcPts val="0"/>
              </a:spcAft>
              <a:buClr>
                <a:srgbClr val="0070C0"/>
              </a:buClr>
              <a:buSzPct val="100000"/>
              <a:buFont typeface="Arial"/>
              <a:buNone/>
            </a:pPr>
            <a:r>
              <a:t/>
            </a:r>
            <a:endParaRPr sz="2200">
              <a:solidFill>
                <a:srgbClr val="292929"/>
              </a:solidFill>
              <a:latin typeface="Arial"/>
              <a:ea typeface="Arial"/>
              <a:cs typeface="Arial"/>
              <a:sym typeface="Arial"/>
            </a:endParaRPr>
          </a:p>
        </p:txBody>
      </p:sp>
      <p:sp>
        <p:nvSpPr>
          <p:cNvPr id="137" name="Google Shape;137;p6"/>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Methodology</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7"/>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3" name="Google Shape;143;p7"/>
          <p:cNvSpPr txBox="1"/>
          <p:nvPr>
            <p:ph idx="1" type="body"/>
          </p:nvPr>
        </p:nvSpPr>
        <p:spPr>
          <a:xfrm>
            <a:off x="770011" y="1825625"/>
            <a:ext cx="10515600" cy="4351338"/>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The data are collected via </a:t>
            </a:r>
            <a:endParaRPr sz="2200">
              <a:solidFill>
                <a:srgbClr val="292929"/>
              </a:solidFill>
            </a:endParaRPr>
          </a:p>
          <a:p>
            <a:pPr indent="0" lvl="0" marL="457200" marR="0" rtl="0" algn="l">
              <a:lnSpc>
                <a:spcPct val="100000"/>
              </a:lnSpc>
              <a:spcBef>
                <a:spcPts val="0"/>
              </a:spcBef>
              <a:spcAft>
                <a:spcPts val="0"/>
              </a:spcAft>
              <a:buNone/>
            </a:pPr>
            <a:r>
              <a:t/>
            </a:r>
            <a:endParaRPr sz="2200">
              <a:solidFill>
                <a:srgbClr val="292929"/>
              </a:solidFill>
            </a:endParaRPr>
          </a:p>
          <a:p>
            <a:pPr indent="-317500" lvl="0" marL="914400" marR="0" rtl="0" algn="l">
              <a:lnSpc>
                <a:spcPct val="100000"/>
              </a:lnSpc>
              <a:spcBef>
                <a:spcPts val="0"/>
              </a:spcBef>
              <a:spcAft>
                <a:spcPts val="0"/>
              </a:spcAft>
              <a:buSzPts val="1400"/>
              <a:buChar char="-"/>
            </a:pPr>
            <a:r>
              <a:rPr lang="en-US" sz="2200">
                <a:solidFill>
                  <a:srgbClr val="292929"/>
                </a:solidFill>
              </a:rPr>
              <a:t>SpaceX API </a:t>
            </a:r>
            <a:endParaRPr sz="2200">
              <a:solidFill>
                <a:srgbClr val="292929"/>
              </a:solidFill>
            </a:endParaRPr>
          </a:p>
          <a:p>
            <a:pPr indent="457200" lvl="0" marL="457200" marR="0" rtl="0" algn="l">
              <a:lnSpc>
                <a:spcPct val="100000"/>
              </a:lnSpc>
              <a:spcBef>
                <a:spcPts val="0"/>
              </a:spcBef>
              <a:spcAft>
                <a:spcPts val="0"/>
              </a:spcAft>
              <a:buNone/>
            </a:pPr>
            <a:r>
              <a:rPr lang="en-US">
                <a:solidFill>
                  <a:srgbClr val="292929"/>
                </a:solidFill>
              </a:rPr>
              <a:t>"</a:t>
            </a:r>
            <a:r>
              <a:rPr lang="en-US" u="sng">
                <a:solidFill>
                  <a:schemeClr val="hlink"/>
                </a:solidFill>
                <a:hlinkClick r:id="rId4"/>
              </a:rPr>
              <a:t>https://api.spacexdata.com/v4/rockets/</a:t>
            </a:r>
            <a:r>
              <a:rPr lang="en-US">
                <a:solidFill>
                  <a:srgbClr val="292929"/>
                </a:solidFill>
              </a:rPr>
              <a:t>"</a:t>
            </a:r>
            <a:r>
              <a:rPr lang="en-US" sz="2200">
                <a:solidFill>
                  <a:srgbClr val="292929"/>
                </a:solidFill>
              </a:rPr>
              <a:t> </a:t>
            </a:r>
            <a:endParaRPr sz="2200">
              <a:solidFill>
                <a:srgbClr val="292929"/>
              </a:solidFill>
            </a:endParaRPr>
          </a:p>
          <a:p>
            <a:pPr indent="-368300" lvl="0" marL="914400" marR="0" rtl="0" algn="l">
              <a:lnSpc>
                <a:spcPct val="100000"/>
              </a:lnSpc>
              <a:spcBef>
                <a:spcPts val="0"/>
              </a:spcBef>
              <a:spcAft>
                <a:spcPts val="0"/>
              </a:spcAft>
              <a:buClr>
                <a:srgbClr val="292929"/>
              </a:buClr>
              <a:buSzPts val="2200"/>
              <a:buChar char="-"/>
            </a:pPr>
            <a:r>
              <a:rPr lang="en-US" sz="2200">
                <a:solidFill>
                  <a:srgbClr val="292929"/>
                </a:solidFill>
              </a:rPr>
              <a:t>Webscraping </a:t>
            </a:r>
            <a:r>
              <a:rPr lang="en-US" u="sng">
                <a:solidFill>
                  <a:schemeClr val="hlink"/>
                </a:solidFill>
              </a:rPr>
              <a:t>“https://en.wikipedia.org/w/index.php?title=List_of_Falcon_9_and_Falcon_Heavy_launches&amp;oldid=1027686922”</a:t>
            </a:r>
            <a:r>
              <a:rPr lang="en-US"/>
              <a:t> </a:t>
            </a:r>
            <a:endParaRPr/>
          </a:p>
          <a:p>
            <a:pPr indent="0" lvl="0" marL="457200" marR="0" rtl="0" algn="l">
              <a:lnSpc>
                <a:spcPct val="100000"/>
              </a:lnSpc>
              <a:spcBef>
                <a:spcPts val="0"/>
              </a:spcBef>
              <a:spcAft>
                <a:spcPts val="0"/>
              </a:spcAft>
              <a:buNone/>
            </a:pPr>
            <a:r>
              <a:t/>
            </a:r>
            <a:endParaRPr sz="2200">
              <a:solidFill>
                <a:srgbClr val="292929"/>
              </a:solidFill>
            </a:endParaRPr>
          </a:p>
          <a:p>
            <a:pPr indent="-228600" lvl="0" marL="228600" marR="0" rtl="0" algn="l">
              <a:lnSpc>
                <a:spcPct val="100000"/>
              </a:lnSpc>
              <a:spcBef>
                <a:spcPts val="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You need to present your data collection process use key phrases and flowcharts</a:t>
            </a: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44" name="Google Shape;144;p7"/>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Data Collection</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8"/>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0" name="Google Shape;150;p8"/>
          <p:cNvSpPr txBox="1"/>
          <p:nvPr>
            <p:ph idx="1" type="body"/>
          </p:nvPr>
        </p:nvSpPr>
        <p:spPr>
          <a:xfrm>
            <a:off x="5910250" y="1792302"/>
            <a:ext cx="5460900" cy="4774500"/>
          </a:xfrm>
          <a:prstGeom prst="rect">
            <a:avLst/>
          </a:prstGeom>
          <a:noFill/>
          <a:ln cap="flat" cmpd="sng" w="9525">
            <a:solidFill>
              <a:srgbClr val="0B49CB"/>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flowchart TD</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A[Start] --&gt; B[GET /v4/launches/past]</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B --&gt; C[Load JSON into dataframe]</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C --&gt; D[Extract rocket ids]</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C --&gt; E[Extract payload ids]</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C --&gt; F[Extract launchpad ids]</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C --&gt; G[Extract core ids]</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D --&gt; H[GET /v4/rockets/{id}]</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E --&gt; I[GET /v4/payloads/{id}]</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F --&gt; J[GET /v4/launchpads/{id}]</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G --&gt; K[GET /v4/cores/{id}]</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H --&gt; L[Append booster version]</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I --&gt; M[Append payload mass/orbit]</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J --&gt; N[Append site name/lat/lon]</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K --&gt; O[Append landing and reuse features]</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L --&gt; P[Merge into master table]</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M --&gt; P</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N --&gt; P</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O --&gt; P</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P --&gt; Q[Clean rows and types]</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rPr lang="en-US" sz="600">
                <a:solidFill>
                  <a:schemeClr val="dk1"/>
                </a:solidFill>
                <a:latin typeface="Courier New"/>
                <a:ea typeface="Courier New"/>
                <a:cs typeface="Courier New"/>
                <a:sym typeface="Courier New"/>
              </a:rPr>
              <a:t>Q --&gt; R[Final analysis dataset]</a:t>
            </a:r>
            <a:endParaRPr sz="600">
              <a:solidFill>
                <a:schemeClr val="dk1"/>
              </a:solidFill>
              <a:latin typeface="Courier New"/>
              <a:ea typeface="Courier New"/>
              <a:cs typeface="Courier New"/>
              <a:sym typeface="Courier New"/>
            </a:endParaRPr>
          </a:p>
          <a:p>
            <a:pPr indent="0" lvl="0" marL="152400" marR="152400" rtl="0" algn="l">
              <a:lnSpc>
                <a:spcPct val="115000"/>
              </a:lnSpc>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R --&gt; S[End]</a:t>
            </a:r>
            <a:endParaRPr sz="600">
              <a:solidFill>
                <a:schemeClr val="dk1"/>
              </a:solidFill>
              <a:latin typeface="Courier New"/>
              <a:ea typeface="Courier New"/>
              <a:cs typeface="Courier New"/>
              <a:sym typeface="Courier New"/>
            </a:endParaRPr>
          </a:p>
          <a:p>
            <a:pPr indent="0" lvl="0" marL="0" marR="0" rtl="0" algn="l">
              <a:lnSpc>
                <a:spcPct val="90000"/>
              </a:lnSpc>
              <a:spcBef>
                <a:spcPts val="1000"/>
              </a:spcBef>
              <a:spcAft>
                <a:spcPts val="0"/>
              </a:spcAft>
              <a:buClr>
                <a:srgbClr val="1C7DDB"/>
              </a:buClr>
              <a:buSzPts val="2200"/>
              <a:buFont typeface="Arial"/>
              <a:buNone/>
            </a:pPr>
            <a:r>
              <a:t/>
            </a:r>
            <a:endParaRPr sz="600">
              <a:solidFill>
                <a:schemeClr val="dk1"/>
              </a:solidFill>
            </a:endParaRPr>
          </a:p>
        </p:txBody>
      </p:sp>
      <p:sp>
        <p:nvSpPr>
          <p:cNvPr id="151" name="Google Shape;151;p8"/>
          <p:cNvSpPr txBox="1"/>
          <p:nvPr>
            <p:ph idx="2" type="body"/>
          </p:nvPr>
        </p:nvSpPr>
        <p:spPr>
          <a:xfrm>
            <a:off x="820738" y="1800225"/>
            <a:ext cx="4640263" cy="4225925"/>
          </a:xfrm>
          <a:prstGeom prst="rect">
            <a:avLst/>
          </a:prstGeom>
          <a:noFill/>
          <a:ln>
            <a:noFill/>
          </a:ln>
        </p:spPr>
        <p:txBody>
          <a:bodyPr anchorCtr="0" anchor="t" bIns="45700" lIns="91425" spcFirstLastPara="1" rIns="91425" wrap="square" tIns="45700">
            <a:normAutofit fontScale="47500" lnSpcReduction="10000"/>
          </a:bodyPr>
          <a:lstStyle/>
          <a:p>
            <a:pPr indent="0" lvl="0" marL="0" marR="0" rtl="0" algn="ctr">
              <a:lnSpc>
                <a:spcPct val="100000"/>
              </a:lnSpc>
              <a:spcBef>
                <a:spcPts val="0"/>
              </a:spcBef>
              <a:spcAft>
                <a:spcPts val="0"/>
              </a:spcAft>
              <a:buNone/>
            </a:pPr>
            <a:r>
              <a:rPr lang="en-US" sz="2500">
                <a:solidFill>
                  <a:schemeClr val="dk1"/>
                </a:solidFill>
                <a:latin typeface="Georgia"/>
                <a:ea typeface="Georgia"/>
                <a:cs typeface="Georgia"/>
                <a:sym typeface="Georgia"/>
              </a:rPr>
              <a:t>The notebook collects SpaceX launch data through REST calls, enriches each launch with rocket, payload, launchpad, and core metadata, and then cleans the result into one analysis-ready table. This makes landing prediction possible because the final dataset contains the key explanatory features needed for modeling</a:t>
            </a:r>
            <a:r>
              <a:rPr lang="en-US" sz="2500">
                <a:solidFill>
                  <a:schemeClr val="dk1"/>
                </a:solidFill>
              </a:rPr>
              <a:t> </a:t>
            </a:r>
            <a:endParaRPr sz="2500">
              <a:solidFill>
                <a:schemeClr val="dk1"/>
              </a:solidFill>
            </a:endParaRPr>
          </a:p>
          <a:p>
            <a:pPr indent="0" lvl="0" marL="0" rtl="0" algn="l">
              <a:lnSpc>
                <a:spcPct val="125000"/>
              </a:lnSpc>
              <a:spcBef>
                <a:spcPts val="1800"/>
              </a:spcBef>
              <a:spcAft>
                <a:spcPts val="0"/>
              </a:spcAft>
              <a:buNone/>
            </a:pPr>
            <a:r>
              <a:rPr b="1" lang="en-US" sz="2000">
                <a:solidFill>
                  <a:schemeClr val="dk1"/>
                </a:solidFill>
              </a:rPr>
              <a:t>Key Phrases</a:t>
            </a:r>
            <a:endParaRPr b="1" sz="2000">
              <a:solidFill>
                <a:schemeClr val="dk1"/>
              </a:solidFill>
            </a:endParaRPr>
          </a:p>
          <a:p>
            <a:pPr indent="-288925" lvl="0" marL="457200" rtl="0" algn="l">
              <a:lnSpc>
                <a:spcPct val="115000"/>
              </a:lnSpc>
              <a:spcBef>
                <a:spcPts val="400"/>
              </a:spcBef>
              <a:spcAft>
                <a:spcPts val="0"/>
              </a:spcAft>
              <a:buClr>
                <a:schemeClr val="dk1"/>
              </a:buClr>
              <a:buSzPct val="100000"/>
              <a:buFont typeface="Georgia"/>
              <a:buChar char="●"/>
            </a:pPr>
            <a:r>
              <a:rPr b="1" lang="en-US" sz="2000">
                <a:solidFill>
                  <a:schemeClr val="dk1"/>
                </a:solidFill>
                <a:latin typeface="Georgia"/>
                <a:ea typeface="Georgia"/>
                <a:cs typeface="Georgia"/>
                <a:sym typeface="Georgia"/>
              </a:rPr>
              <a:t>GET request</a:t>
            </a:r>
            <a:r>
              <a:rPr lang="en-US" sz="2000">
                <a:solidFill>
                  <a:schemeClr val="dk1"/>
                </a:solidFill>
                <a:latin typeface="Georgia"/>
                <a:ea typeface="Georgia"/>
                <a:cs typeface="Georgia"/>
                <a:sym typeface="Georgia"/>
              </a:rPr>
              <a:t>: Abruf der SpaceX-Launchdaten über die REST API.</a:t>
            </a:r>
            <a:endParaRPr sz="2000">
              <a:solidFill>
                <a:schemeClr val="dk1"/>
              </a:solidFill>
              <a:latin typeface="Georgia"/>
              <a:ea typeface="Georgia"/>
              <a:cs typeface="Georgia"/>
              <a:sym typeface="Georgia"/>
            </a:endParaRPr>
          </a:p>
          <a:p>
            <a:pPr indent="-288925" lvl="0" marL="457200" rtl="0" algn="l">
              <a:lnSpc>
                <a:spcPct val="115000"/>
              </a:lnSpc>
              <a:spcBef>
                <a:spcPts val="0"/>
              </a:spcBef>
              <a:spcAft>
                <a:spcPts val="0"/>
              </a:spcAft>
              <a:buClr>
                <a:schemeClr val="dk1"/>
              </a:buClr>
              <a:buSzPct val="100000"/>
              <a:buFont typeface="Georgia"/>
              <a:buChar char="●"/>
            </a:pPr>
            <a:r>
              <a:rPr b="1" lang="en-US" sz="2000">
                <a:solidFill>
                  <a:schemeClr val="dk1"/>
                </a:solidFill>
                <a:latin typeface="Georgia"/>
                <a:ea typeface="Georgia"/>
                <a:cs typeface="Georgia"/>
                <a:sym typeface="Georgia"/>
              </a:rPr>
              <a:t>JSON normalization</a:t>
            </a:r>
            <a:r>
              <a:rPr lang="en-US" sz="2000">
                <a:solidFill>
                  <a:schemeClr val="dk1"/>
                </a:solidFill>
                <a:latin typeface="Georgia"/>
                <a:ea typeface="Georgia"/>
                <a:cs typeface="Georgia"/>
                <a:sym typeface="Georgia"/>
              </a:rPr>
              <a:t>: Verschachtelte API-Antworten werden in tabellarische Form überführt.</a:t>
            </a:r>
            <a:endParaRPr sz="2000">
              <a:solidFill>
                <a:schemeClr val="dk1"/>
              </a:solidFill>
              <a:latin typeface="Georgia"/>
              <a:ea typeface="Georgia"/>
              <a:cs typeface="Georgia"/>
              <a:sym typeface="Georgia"/>
            </a:endParaRPr>
          </a:p>
          <a:p>
            <a:pPr indent="-288925" lvl="0" marL="457200" rtl="0" algn="l">
              <a:lnSpc>
                <a:spcPct val="115000"/>
              </a:lnSpc>
              <a:spcBef>
                <a:spcPts val="0"/>
              </a:spcBef>
              <a:spcAft>
                <a:spcPts val="0"/>
              </a:spcAft>
              <a:buClr>
                <a:schemeClr val="dk1"/>
              </a:buClr>
              <a:buSzPct val="100000"/>
              <a:buFont typeface="Georgia"/>
              <a:buChar char="●"/>
            </a:pPr>
            <a:r>
              <a:rPr b="1" lang="en-US" sz="2000">
                <a:solidFill>
                  <a:schemeClr val="dk1"/>
                </a:solidFill>
                <a:latin typeface="Georgia"/>
                <a:ea typeface="Georgia"/>
                <a:cs typeface="Georgia"/>
                <a:sym typeface="Georgia"/>
              </a:rPr>
              <a:t>Helper functions</a:t>
            </a:r>
            <a:r>
              <a:rPr lang="en-US" sz="2000">
                <a:solidFill>
                  <a:schemeClr val="dk1"/>
                </a:solidFill>
                <a:latin typeface="Georgia"/>
                <a:ea typeface="Georgia"/>
                <a:cs typeface="Georgia"/>
                <a:sym typeface="Georgia"/>
              </a:rPr>
              <a:t>: Anreicherung der Launches mit Rocket-, Payload-, Launchpad- und Core-Metadaten.</a:t>
            </a:r>
            <a:endParaRPr sz="2000">
              <a:solidFill>
                <a:schemeClr val="dk1"/>
              </a:solidFill>
              <a:latin typeface="Georgia"/>
              <a:ea typeface="Georgia"/>
              <a:cs typeface="Georgia"/>
              <a:sym typeface="Georgia"/>
            </a:endParaRPr>
          </a:p>
          <a:p>
            <a:pPr indent="-288925" lvl="0" marL="457200" rtl="0" algn="l">
              <a:lnSpc>
                <a:spcPct val="115000"/>
              </a:lnSpc>
              <a:spcBef>
                <a:spcPts val="0"/>
              </a:spcBef>
              <a:spcAft>
                <a:spcPts val="0"/>
              </a:spcAft>
              <a:buClr>
                <a:schemeClr val="dk1"/>
              </a:buClr>
              <a:buSzPct val="100000"/>
              <a:buFont typeface="Georgia"/>
              <a:buChar char="●"/>
            </a:pPr>
            <a:r>
              <a:rPr b="1" lang="en-US" sz="2000">
                <a:solidFill>
                  <a:schemeClr val="dk1"/>
                </a:solidFill>
                <a:latin typeface="Georgia"/>
                <a:ea typeface="Georgia"/>
                <a:cs typeface="Georgia"/>
                <a:sym typeface="Georgia"/>
              </a:rPr>
              <a:t>Data wrangling</a:t>
            </a:r>
            <a:r>
              <a:rPr lang="en-US" sz="2000">
                <a:solidFill>
                  <a:schemeClr val="dk1"/>
                </a:solidFill>
                <a:latin typeface="Georgia"/>
                <a:ea typeface="Georgia"/>
                <a:cs typeface="Georgia"/>
                <a:sym typeface="Georgia"/>
              </a:rPr>
              <a:t>: Entfernen von Multi-Core-/Multi-Payload-Fällen und Umwandlung von Datumswerten.</a:t>
            </a:r>
            <a:endParaRPr sz="2000">
              <a:solidFill>
                <a:schemeClr val="dk1"/>
              </a:solidFill>
              <a:latin typeface="Georgia"/>
              <a:ea typeface="Georgia"/>
              <a:cs typeface="Georgia"/>
              <a:sym typeface="Georgia"/>
            </a:endParaRPr>
          </a:p>
          <a:p>
            <a:pPr indent="-288925" lvl="0" marL="457200" rtl="0" algn="l">
              <a:lnSpc>
                <a:spcPct val="115000"/>
              </a:lnSpc>
              <a:spcBef>
                <a:spcPts val="0"/>
              </a:spcBef>
              <a:spcAft>
                <a:spcPts val="0"/>
              </a:spcAft>
              <a:buClr>
                <a:schemeClr val="dk1"/>
              </a:buClr>
              <a:buSzPct val="100000"/>
              <a:buFont typeface="Georgia"/>
              <a:buChar char="●"/>
            </a:pPr>
            <a:r>
              <a:rPr b="1" lang="en-US" sz="2000">
                <a:solidFill>
                  <a:schemeClr val="dk1"/>
                </a:solidFill>
                <a:latin typeface="Georgia"/>
                <a:ea typeface="Georgia"/>
                <a:cs typeface="Georgia"/>
                <a:sym typeface="Georgia"/>
              </a:rPr>
              <a:t>Final dataset</a:t>
            </a:r>
            <a:r>
              <a:rPr lang="en-US" sz="2000">
                <a:solidFill>
                  <a:schemeClr val="dk1"/>
                </a:solidFill>
                <a:latin typeface="Georgia"/>
                <a:ea typeface="Georgia"/>
                <a:cs typeface="Georgia"/>
                <a:sym typeface="Georgia"/>
              </a:rPr>
              <a:t>: Ein bereinigter Datensatz pro Launch als Grundlage für Analyse und Modellierung.</a:t>
            </a:r>
            <a:endParaRPr sz="2000">
              <a:solidFill>
                <a:schemeClr val="dk1"/>
              </a:solidFill>
              <a:latin typeface="Georgia"/>
              <a:ea typeface="Georgia"/>
              <a:cs typeface="Georgia"/>
              <a:sym typeface="Georgia"/>
            </a:endParaRPr>
          </a:p>
          <a:p>
            <a:pPr indent="-122079" lvl="0" marL="228600" marR="0" rtl="0" algn="l">
              <a:lnSpc>
                <a:spcPct val="100000"/>
              </a:lnSpc>
              <a:spcBef>
                <a:spcPts val="0"/>
              </a:spcBef>
              <a:spcAft>
                <a:spcPts val="0"/>
              </a:spcAft>
              <a:buClr>
                <a:schemeClr val="dk1"/>
              </a:buClr>
              <a:buSzPct val="100000"/>
              <a:buChar char="•"/>
            </a:pPr>
            <a:r>
              <a:t/>
            </a:r>
            <a:endParaRPr sz="1100">
              <a:solidFill>
                <a:schemeClr val="dk1"/>
              </a:solidFill>
            </a:endParaRPr>
          </a:p>
          <a:p>
            <a:pPr indent="-88900" lvl="0" marL="228600" marR="0" rtl="0" algn="l">
              <a:lnSpc>
                <a:spcPct val="100000"/>
              </a:lnSpc>
              <a:spcBef>
                <a:spcPts val="1400"/>
              </a:spcBef>
              <a:spcAft>
                <a:spcPts val="0"/>
              </a:spcAft>
              <a:buClr>
                <a:schemeClr val="dk1"/>
              </a:buClr>
              <a:buSzPct val="100000"/>
              <a:buFont typeface="Arial"/>
              <a:buNone/>
            </a:pPr>
            <a:r>
              <a:t/>
            </a:r>
            <a:endParaRPr b="0" i="0" sz="2200" u="none" cap="none" strike="noStrike">
              <a:solidFill>
                <a:srgbClr val="292929"/>
              </a:solidFill>
              <a:latin typeface="Arial"/>
              <a:ea typeface="Arial"/>
              <a:cs typeface="Arial"/>
              <a:sym typeface="Arial"/>
            </a:endParaRPr>
          </a:p>
          <a:p>
            <a:pPr indent="-155258" lvl="0" marL="228600" marR="0" rtl="0" algn="l">
              <a:lnSpc>
                <a:spcPct val="100000"/>
              </a:lnSpc>
              <a:spcBef>
                <a:spcPts val="1400"/>
              </a:spcBef>
              <a:spcAft>
                <a:spcPts val="0"/>
              </a:spcAft>
              <a:buClr>
                <a:srgbClr val="292929"/>
              </a:buClr>
              <a:buSzPct val="100000"/>
              <a:buFont typeface="Arial"/>
              <a:buChar char="•"/>
            </a:pPr>
            <a:r>
              <a:rPr b="0" i="0" lang="en-US" sz="2200" u="none" cap="none" strike="noStrike">
                <a:solidFill>
                  <a:srgbClr val="292929"/>
                </a:solidFill>
                <a:latin typeface="Arial"/>
                <a:ea typeface="Arial"/>
                <a:cs typeface="Arial"/>
                <a:sym typeface="Arial"/>
              </a:rPr>
              <a:t>GitHub URL:</a:t>
            </a:r>
            <a:endParaRPr b="0" i="0" sz="2200" u="none" cap="none" strike="noStrike">
              <a:solidFill>
                <a:srgbClr val="292929"/>
              </a:solidFill>
              <a:latin typeface="Arial"/>
              <a:ea typeface="Arial"/>
              <a:cs typeface="Arial"/>
              <a:sym typeface="Arial"/>
            </a:endParaRPr>
          </a:p>
          <a:p>
            <a:pPr indent="0" lvl="0" marL="457200" marR="0" rtl="0" algn="l">
              <a:lnSpc>
                <a:spcPct val="100000"/>
              </a:lnSpc>
              <a:spcBef>
                <a:spcPts val="1400"/>
              </a:spcBef>
              <a:spcAft>
                <a:spcPts val="0"/>
              </a:spcAft>
              <a:buNone/>
            </a:pPr>
            <a:r>
              <a:rPr lang="en-US">
                <a:solidFill>
                  <a:srgbClr val="292929"/>
                </a:solidFill>
              </a:rPr>
              <a:t>https://github.com/gnembac/IBM_Datascience_Capstone_PRJ/blob/a8c54efc091b1b1d221046e2634f1f7156b684ec/jupyter-labs-spacex-data-collection-api%20(3).ipynb</a:t>
            </a:r>
            <a:endParaRPr>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p:txBody>
      </p:sp>
      <p:sp>
        <p:nvSpPr>
          <p:cNvPr id="152" name="Google Shape;152;p8"/>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Data Collection – SpaceX API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9"/>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8" name="Google Shape;158;p9"/>
          <p:cNvSpPr txBox="1"/>
          <p:nvPr>
            <p:ph idx="1" type="body"/>
          </p:nvPr>
        </p:nvSpPr>
        <p:spPr>
          <a:xfrm>
            <a:off x="922400" y="1792302"/>
            <a:ext cx="3932400" cy="4485000"/>
          </a:xfrm>
          <a:prstGeom prst="rect">
            <a:avLst/>
          </a:prstGeom>
          <a:noFill/>
          <a:ln>
            <a:noFill/>
          </a:ln>
        </p:spPr>
        <p:txBody>
          <a:bodyPr anchorCtr="0" anchor="t" bIns="45700" lIns="91425" spcFirstLastPara="1" rIns="91425" wrap="square" tIns="45700">
            <a:noAutofit/>
          </a:bodyPr>
          <a:lstStyle/>
          <a:p>
            <a:pPr indent="0" lvl="0" marL="0" rtl="0" algn="ctr">
              <a:lnSpc>
                <a:spcPct val="125000"/>
              </a:lnSpc>
              <a:spcBef>
                <a:spcPts val="1800"/>
              </a:spcBef>
              <a:spcAft>
                <a:spcPts val="0"/>
              </a:spcAft>
              <a:buNone/>
            </a:pPr>
            <a:r>
              <a:rPr lang="en-US" sz="1000">
                <a:solidFill>
                  <a:schemeClr val="dk1"/>
                </a:solidFill>
                <a:latin typeface="Georgia"/>
                <a:ea typeface="Georgia"/>
                <a:cs typeface="Georgia"/>
                <a:sym typeface="Georgia"/>
              </a:rPr>
              <a:t>The web scraping pipeline starts with a fixed Wikipedia snapshot, parses the HTML with BeautifulSoup, extracts the Falcon 9 launch table, cleans the headers, and loops through each row to build a structured launch dataset. The resulting dataframe is then exported as CSV for later analysis and modeling</a:t>
            </a:r>
            <a:r>
              <a:rPr lang="en-US" sz="1000">
                <a:solidFill>
                  <a:schemeClr val="dk1"/>
                </a:solidFill>
              </a:rPr>
              <a:t> </a:t>
            </a:r>
            <a:endParaRPr b="1" sz="1000">
              <a:solidFill>
                <a:schemeClr val="dk1"/>
              </a:solidFill>
            </a:endParaRPr>
          </a:p>
          <a:p>
            <a:pPr indent="0" lvl="0" marL="0" rtl="0" algn="l">
              <a:lnSpc>
                <a:spcPct val="125000"/>
              </a:lnSpc>
              <a:spcBef>
                <a:spcPts val="1800"/>
              </a:spcBef>
              <a:spcAft>
                <a:spcPts val="0"/>
              </a:spcAft>
              <a:buNone/>
            </a:pPr>
            <a:r>
              <a:rPr b="1" lang="en-US" sz="1000">
                <a:solidFill>
                  <a:schemeClr val="dk1"/>
                </a:solidFill>
              </a:rPr>
              <a:t>Key Phrases</a:t>
            </a:r>
            <a:endParaRPr b="1" sz="1000">
              <a:solidFill>
                <a:schemeClr val="dk1"/>
              </a:solidFill>
            </a:endParaRPr>
          </a:p>
          <a:p>
            <a:pPr indent="-292100" lvl="0" marL="457200" rtl="0" algn="l">
              <a:lnSpc>
                <a:spcPct val="115000"/>
              </a:lnSpc>
              <a:spcBef>
                <a:spcPts val="40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HTTP GET request</a:t>
            </a:r>
            <a:r>
              <a:rPr lang="en-US" sz="1000">
                <a:solidFill>
                  <a:schemeClr val="dk1"/>
                </a:solidFill>
                <a:latin typeface="Georgia"/>
                <a:ea typeface="Georgia"/>
                <a:cs typeface="Georgia"/>
                <a:sym typeface="Georgia"/>
              </a:rPr>
              <a:t>: Abruf der Wikipedia-Seite über eine feste Snapshot-URL.</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BeautifulSoup parsing</a:t>
            </a:r>
            <a:r>
              <a:rPr lang="en-US" sz="1000">
                <a:solidFill>
                  <a:schemeClr val="dk1"/>
                </a:solidFill>
                <a:latin typeface="Georgia"/>
                <a:ea typeface="Georgia"/>
                <a:cs typeface="Georgia"/>
                <a:sym typeface="Georgia"/>
              </a:rPr>
              <a:t>: Umwandlung des HTML-Dokuments in eine durchsuchbare Struktur.</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Target table selection</a:t>
            </a:r>
            <a:r>
              <a:rPr lang="en-US" sz="1000">
                <a:solidFill>
                  <a:schemeClr val="dk1"/>
                </a:solidFill>
                <a:latin typeface="Georgia"/>
                <a:ea typeface="Georgia"/>
                <a:cs typeface="Georgia"/>
                <a:sym typeface="Georgia"/>
              </a:rPr>
              <a:t>: Auswahl der relevanten Launch-Record-Tabelle aus allen HTML-Tabellen.</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Header cleaning</a:t>
            </a:r>
            <a:r>
              <a:rPr lang="en-US" sz="1000">
                <a:solidFill>
                  <a:schemeClr val="dk1"/>
                </a:solidFill>
                <a:latin typeface="Georgia"/>
                <a:ea typeface="Georgia"/>
                <a:cs typeface="Georgia"/>
                <a:sym typeface="Georgia"/>
              </a:rPr>
              <a:t>: Bereinigung der </a:t>
            </a:r>
            <a:r>
              <a:rPr lang="en-US" sz="1000">
                <a:solidFill>
                  <a:schemeClr val="dk1"/>
                </a:solidFill>
                <a:latin typeface="Courier New"/>
                <a:ea typeface="Courier New"/>
                <a:cs typeface="Courier New"/>
                <a:sym typeface="Courier New"/>
              </a:rPr>
              <a:t>&lt;th&gt;</a:t>
            </a:r>
            <a:r>
              <a:rPr lang="en-US" sz="1000">
                <a:solidFill>
                  <a:schemeClr val="dk1"/>
                </a:solidFill>
                <a:latin typeface="Georgia"/>
                <a:ea typeface="Georgia"/>
                <a:cs typeface="Georgia"/>
                <a:sym typeface="Georgia"/>
              </a:rPr>
              <a:t>-Spaltennamen zu lesbaren Feldnamen.</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Row parsing</a:t>
            </a:r>
            <a:r>
              <a:rPr lang="en-US" sz="1000">
                <a:solidFill>
                  <a:schemeClr val="dk1"/>
                </a:solidFill>
                <a:latin typeface="Georgia"/>
                <a:ea typeface="Georgia"/>
                <a:cs typeface="Georgia"/>
                <a:sym typeface="Georgia"/>
              </a:rPr>
              <a:t>: Extraktion und Normalisierung der Launch-Daten aus jeder Tabellenzeile.</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DataFrame creation</a:t>
            </a:r>
            <a:r>
              <a:rPr lang="en-US" sz="1000">
                <a:solidFill>
                  <a:schemeClr val="dk1"/>
                </a:solidFill>
                <a:latin typeface="Georgia"/>
                <a:ea typeface="Georgia"/>
                <a:cs typeface="Georgia"/>
                <a:sym typeface="Georgia"/>
              </a:rPr>
              <a:t>: Aufbau eines strukturierten Pandas-DataFrames.</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CSV export</a:t>
            </a:r>
            <a:r>
              <a:rPr lang="en-US" sz="1000">
                <a:solidFill>
                  <a:schemeClr val="dk1"/>
                </a:solidFill>
                <a:latin typeface="Georgia"/>
                <a:ea typeface="Georgia"/>
                <a:cs typeface="Georgia"/>
                <a:sym typeface="Georgia"/>
              </a:rPr>
              <a:t>: Speichern des bereinigten Datensatzes für die spätere Analyse.</a:t>
            </a:r>
            <a:endParaRPr sz="1000">
              <a:solidFill>
                <a:schemeClr val="dk1"/>
              </a:solidFill>
              <a:latin typeface="Georgia"/>
              <a:ea typeface="Georgia"/>
              <a:cs typeface="Georgia"/>
              <a:sym typeface="Georgia"/>
            </a:endParaRPr>
          </a:p>
          <a:p>
            <a:pPr indent="0" lvl="0" marL="0" marR="0" rtl="0" algn="l">
              <a:lnSpc>
                <a:spcPct val="100000"/>
              </a:lnSpc>
              <a:spcBef>
                <a:spcPts val="1400"/>
              </a:spcBef>
              <a:spcAft>
                <a:spcPts val="0"/>
              </a:spcAft>
              <a:buNone/>
            </a:pPr>
            <a:r>
              <a:rPr lang="en-US" sz="800">
                <a:solidFill>
                  <a:srgbClr val="292929"/>
                </a:solidFill>
                <a:latin typeface="Arial"/>
                <a:ea typeface="Arial"/>
                <a:cs typeface="Arial"/>
                <a:sym typeface="Arial"/>
              </a:rPr>
              <a:t>GitHub URL:</a:t>
            </a:r>
            <a:endParaRPr sz="800">
              <a:solidFill>
                <a:srgbClr val="292929"/>
              </a:solidFill>
              <a:latin typeface="Arial"/>
              <a:ea typeface="Arial"/>
              <a:cs typeface="Arial"/>
              <a:sym typeface="Arial"/>
            </a:endParaRPr>
          </a:p>
          <a:p>
            <a:pPr indent="0" lvl="0" marL="0" marR="0" rtl="0" algn="l">
              <a:lnSpc>
                <a:spcPct val="100000"/>
              </a:lnSpc>
              <a:spcBef>
                <a:spcPts val="1400"/>
              </a:spcBef>
              <a:spcAft>
                <a:spcPts val="0"/>
              </a:spcAft>
              <a:buNone/>
            </a:pPr>
            <a:r>
              <a:rPr lang="en-US" sz="800">
                <a:solidFill>
                  <a:srgbClr val="292929"/>
                </a:solidFill>
              </a:rPr>
              <a:t>https://github.com/gnembac/IBM_Datascience_Capstone_PRJ/blob/c72eb5257a51299c0e52dbd05b9c95d2704f60d0/jupyter-labs-webscraping%20(2).ipynb</a:t>
            </a:r>
            <a:endParaRPr sz="800">
              <a:solidFill>
                <a:srgbClr val="292929"/>
              </a:solidFill>
            </a:endParaRPr>
          </a:p>
        </p:txBody>
      </p:sp>
      <p:sp>
        <p:nvSpPr>
          <p:cNvPr id="159" name="Google Shape;159;p9"/>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05493"/>
              </a:buClr>
              <a:buSzPct val="100000"/>
              <a:buFont typeface="IBM Plex Mono SemiBold"/>
              <a:buNone/>
            </a:pPr>
            <a:r>
              <a:t/>
            </a:r>
            <a:endParaRPr sz="4000">
              <a:solidFill>
                <a:srgbClr val="1C7DDB"/>
              </a:solidFill>
              <a:latin typeface="Arial"/>
              <a:ea typeface="Arial"/>
              <a:cs typeface="Arial"/>
              <a:sym typeface="Arial"/>
            </a:endParaRPr>
          </a:p>
        </p:txBody>
      </p:sp>
      <p:sp>
        <p:nvSpPr>
          <p:cNvPr id="160" name="Google Shape;160;p9"/>
          <p:cNvSpPr txBox="1"/>
          <p:nvPr/>
        </p:nvSpPr>
        <p:spPr>
          <a:xfrm>
            <a:off x="922411" y="6910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Data Collection - Scraping</a:t>
            </a:r>
            <a:endParaRPr sz="4000">
              <a:solidFill>
                <a:srgbClr val="0B49CB"/>
              </a:solidFill>
              <a:latin typeface="IBM Plex Mono SemiBold"/>
              <a:ea typeface="IBM Plex Mono SemiBold"/>
              <a:cs typeface="IBM Plex Mono SemiBold"/>
              <a:sym typeface="IBM Plex Mono SemiBold"/>
            </a:endParaRPr>
          </a:p>
        </p:txBody>
      </p:sp>
      <p:sp>
        <p:nvSpPr>
          <p:cNvPr id="161" name="Google Shape;161;p9"/>
          <p:cNvSpPr txBox="1"/>
          <p:nvPr/>
        </p:nvSpPr>
        <p:spPr>
          <a:xfrm>
            <a:off x="5910262" y="1792288"/>
            <a:ext cx="5461000" cy="4206875"/>
          </a:xfrm>
          <a:prstGeom prst="rect">
            <a:avLst/>
          </a:prstGeom>
          <a:noFill/>
          <a:ln cap="flat" cmpd="sng" w="9525">
            <a:solidFill>
              <a:srgbClr val="0B49CB"/>
            </a:solidFill>
            <a:prstDash val="dash"/>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200"/>
              <a:buFont typeface="Arial"/>
              <a:buNone/>
            </a:pPr>
            <a:r>
              <a:t/>
            </a:r>
            <a:endParaRPr sz="2200">
              <a:solidFill>
                <a:srgbClr val="1C7DDB"/>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200"/>
              <a:buFont typeface="Arial"/>
              <a:buNone/>
            </a:pPr>
            <a:r>
              <a:t/>
            </a:r>
            <a:endParaRPr sz="2200">
              <a:solidFill>
                <a:srgbClr val="1C7DDB"/>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200"/>
              <a:buFont typeface="Arial"/>
              <a:buNone/>
            </a:pPr>
            <a:r>
              <a:t/>
            </a:r>
            <a:endParaRPr sz="2200">
              <a:solidFill>
                <a:srgbClr val="1C7DDB"/>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200"/>
              <a:buFont typeface="Arial"/>
              <a:buNone/>
            </a:pPr>
            <a:r>
              <a:t/>
            </a:r>
            <a:endParaRPr sz="2200">
              <a:solidFill>
                <a:srgbClr val="1C7DDB"/>
              </a:solidFill>
              <a:latin typeface="Arial"/>
              <a:ea typeface="Arial"/>
              <a:cs typeface="Arial"/>
              <a:sym typeface="Arial"/>
            </a:endParaRPr>
          </a:p>
          <a:p>
            <a:pPr indent="0" lvl="0" marL="0" marR="0" rtl="0" algn="l">
              <a:lnSpc>
                <a:spcPct val="90000"/>
              </a:lnSpc>
              <a:spcBef>
                <a:spcPts val="1000"/>
              </a:spcBef>
              <a:spcAft>
                <a:spcPts val="0"/>
              </a:spcAft>
              <a:buClr>
                <a:srgbClr val="1C7DDB"/>
              </a:buClr>
              <a:buSzPts val="2200"/>
              <a:buFont typeface="Arial"/>
              <a:buNone/>
            </a:pPr>
            <a:r>
              <a:t/>
            </a:r>
            <a:endParaRPr sz="2800">
              <a:solidFill>
                <a:schemeClr val="dk1"/>
              </a:solidFill>
              <a:latin typeface="Calibri"/>
              <a:ea typeface="Calibri"/>
              <a:cs typeface="Calibri"/>
              <a:sym typeface="Calibri"/>
            </a:endParaRPr>
          </a:p>
        </p:txBody>
      </p:sp>
      <p:pic>
        <p:nvPicPr>
          <p:cNvPr id="162" name="Google Shape;162;p9"/>
          <p:cNvPicPr preferRelativeResize="0"/>
          <p:nvPr/>
        </p:nvPicPr>
        <p:blipFill>
          <a:blip r:embed="rId4">
            <a:alphaModFix/>
          </a:blip>
          <a:stretch>
            <a:fillRect/>
          </a:stretch>
        </p:blipFill>
        <p:spPr>
          <a:xfrm>
            <a:off x="7840600" y="1283726"/>
            <a:ext cx="1398775" cy="55742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p10"/>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8" name="Google Shape;168;p10"/>
          <p:cNvSpPr txBox="1"/>
          <p:nvPr>
            <p:ph idx="1" type="body"/>
          </p:nvPr>
        </p:nvSpPr>
        <p:spPr>
          <a:xfrm>
            <a:off x="770004" y="1825625"/>
            <a:ext cx="6024900" cy="4351500"/>
          </a:xfrm>
          <a:prstGeom prst="rect">
            <a:avLst/>
          </a:prstGeom>
          <a:noFill/>
          <a:ln>
            <a:noFill/>
          </a:ln>
        </p:spPr>
        <p:txBody>
          <a:bodyPr anchorCtr="0" anchor="t" bIns="45700" lIns="91425" spcFirstLastPara="1" rIns="91425" wrap="square" tIns="45700">
            <a:noAutofit/>
          </a:bodyPr>
          <a:lstStyle/>
          <a:p>
            <a:pPr indent="0" lvl="0" marL="0" rtl="0" algn="ctr">
              <a:lnSpc>
                <a:spcPct val="125000"/>
              </a:lnSpc>
              <a:spcBef>
                <a:spcPts val="1800"/>
              </a:spcBef>
              <a:spcAft>
                <a:spcPts val="0"/>
              </a:spcAft>
              <a:buNone/>
            </a:pPr>
            <a:r>
              <a:rPr lang="en-US" sz="1000">
                <a:solidFill>
                  <a:schemeClr val="dk1"/>
                </a:solidFill>
                <a:latin typeface="Georgia"/>
                <a:ea typeface="Georgia"/>
                <a:cs typeface="Georgia"/>
                <a:sym typeface="Georgia"/>
              </a:rPr>
              <a:t>The wrangling step starts with the merged SpaceX launch table, then checks missing values and variable types before analyzing launch sites, orbits, and landing outcomes. After identifying the unsuccessful landing patterns, the workflow converts the Outcome column into a binary Class label and exports the final modeling dataset.</a:t>
            </a:r>
            <a:r>
              <a:rPr lang="en-US" sz="1000">
                <a:solidFill>
                  <a:schemeClr val="dk1"/>
                </a:solidFill>
              </a:rPr>
              <a:t> </a:t>
            </a:r>
            <a:endParaRPr b="1" sz="1000">
              <a:solidFill>
                <a:schemeClr val="dk1"/>
              </a:solidFill>
            </a:endParaRPr>
          </a:p>
          <a:p>
            <a:pPr indent="0" lvl="0" marL="0" rtl="0" algn="l">
              <a:lnSpc>
                <a:spcPct val="125000"/>
              </a:lnSpc>
              <a:spcBef>
                <a:spcPts val="1800"/>
              </a:spcBef>
              <a:spcAft>
                <a:spcPts val="0"/>
              </a:spcAft>
              <a:buClr>
                <a:schemeClr val="dk1"/>
              </a:buClr>
              <a:buSzPts val="1100"/>
              <a:buFont typeface="Arial"/>
              <a:buNone/>
            </a:pPr>
            <a:r>
              <a:rPr b="1" lang="en-US" sz="1000">
                <a:solidFill>
                  <a:schemeClr val="dk1"/>
                </a:solidFill>
              </a:rPr>
              <a:t>Key Phrases</a:t>
            </a:r>
            <a:endParaRPr b="1" sz="1000">
              <a:solidFill>
                <a:schemeClr val="dk1"/>
              </a:solidFill>
            </a:endParaRPr>
          </a:p>
          <a:p>
            <a:pPr indent="-292100" lvl="0" marL="457200" rtl="0" algn="l">
              <a:lnSpc>
                <a:spcPct val="115000"/>
              </a:lnSpc>
              <a:spcBef>
                <a:spcPts val="40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Load cleaned dataset</a:t>
            </a:r>
            <a:r>
              <a:rPr lang="en-US" sz="1000">
                <a:solidFill>
                  <a:schemeClr val="dk1"/>
                </a:solidFill>
                <a:latin typeface="Georgia"/>
                <a:ea typeface="Georgia"/>
                <a:cs typeface="Georgia"/>
                <a:sym typeface="Georgia"/>
              </a:rPr>
              <a:t>: Start mit der strukturierten Launch-Tabelle aus der vorherigen Phase.</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Missing-value check</a:t>
            </a:r>
            <a:r>
              <a:rPr lang="en-US" sz="1000">
                <a:solidFill>
                  <a:schemeClr val="dk1"/>
                </a:solidFill>
                <a:latin typeface="Georgia"/>
                <a:ea typeface="Georgia"/>
                <a:cs typeface="Georgia"/>
                <a:sym typeface="Georgia"/>
              </a:rPr>
              <a:t>: Prüfung fehlender Werte pro Attribut.</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Type inspection</a:t>
            </a:r>
            <a:r>
              <a:rPr lang="en-US" sz="1000">
                <a:solidFill>
                  <a:schemeClr val="dk1"/>
                </a:solidFill>
                <a:latin typeface="Georgia"/>
                <a:ea typeface="Georgia"/>
                <a:cs typeface="Georgia"/>
                <a:sym typeface="Georgia"/>
              </a:rPr>
              <a:t>: Trennung numerischer und kategorialer Variablen.</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Launch count analysis</a:t>
            </a:r>
            <a:r>
              <a:rPr lang="en-US" sz="1000">
                <a:solidFill>
                  <a:schemeClr val="dk1"/>
                </a:solidFill>
                <a:latin typeface="Georgia"/>
                <a:ea typeface="Georgia"/>
                <a:cs typeface="Georgia"/>
                <a:sym typeface="Georgia"/>
              </a:rPr>
              <a:t>: Anzahl der Starts pro Launch Site.</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Orbit analysis</a:t>
            </a:r>
            <a:r>
              <a:rPr lang="en-US" sz="1000">
                <a:solidFill>
                  <a:schemeClr val="dk1"/>
                </a:solidFill>
                <a:latin typeface="Georgia"/>
                <a:ea typeface="Georgia"/>
                <a:cs typeface="Georgia"/>
                <a:sym typeface="Georgia"/>
              </a:rPr>
              <a:t>: Häufigkeit der Orbit-Typen und Mission Outcomes.</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Outcome mapping</a:t>
            </a:r>
            <a:r>
              <a:rPr lang="en-US" sz="1000">
                <a:solidFill>
                  <a:schemeClr val="dk1"/>
                </a:solidFill>
                <a:latin typeface="Georgia"/>
                <a:ea typeface="Georgia"/>
                <a:cs typeface="Georgia"/>
                <a:sym typeface="Georgia"/>
              </a:rPr>
              <a:t>: Umwandlung der Outcome-Werte in Success/Failure-Klassen.</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Label creation</a:t>
            </a:r>
            <a:r>
              <a:rPr lang="en-US" sz="1000">
                <a:solidFill>
                  <a:schemeClr val="dk1"/>
                </a:solidFill>
                <a:latin typeface="Georgia"/>
                <a:ea typeface="Georgia"/>
                <a:cs typeface="Georgia"/>
                <a:sym typeface="Georgia"/>
              </a:rPr>
              <a:t>: Binäre Zielvariable </a:t>
            </a:r>
            <a:r>
              <a:rPr lang="en-US" sz="1000">
                <a:solidFill>
                  <a:schemeClr val="dk1"/>
                </a:solidFill>
                <a:latin typeface="Courier New"/>
                <a:ea typeface="Courier New"/>
                <a:cs typeface="Courier New"/>
                <a:sym typeface="Courier New"/>
              </a:rPr>
              <a:t>Class</a:t>
            </a:r>
            <a:r>
              <a:rPr lang="en-US" sz="1000">
                <a:solidFill>
                  <a:schemeClr val="dk1"/>
                </a:solidFill>
                <a:latin typeface="Georgia"/>
                <a:ea typeface="Georgia"/>
                <a:cs typeface="Georgia"/>
                <a:sym typeface="Georgia"/>
              </a:rPr>
              <a:t> mit </a:t>
            </a:r>
            <a:r>
              <a:rPr lang="en-US" sz="1000">
                <a:solidFill>
                  <a:schemeClr val="dk1"/>
                </a:solidFill>
                <a:latin typeface="Courier New"/>
                <a:ea typeface="Courier New"/>
                <a:cs typeface="Courier New"/>
                <a:sym typeface="Courier New"/>
              </a:rPr>
              <a:t>1 = success</a:t>
            </a:r>
            <a:r>
              <a:rPr lang="en-US" sz="1000">
                <a:solidFill>
                  <a:schemeClr val="dk1"/>
                </a:solidFill>
                <a:latin typeface="Georgia"/>
                <a:ea typeface="Georgia"/>
                <a:cs typeface="Georgia"/>
                <a:sym typeface="Georgia"/>
              </a:rPr>
              <a:t> und </a:t>
            </a:r>
            <a:r>
              <a:rPr lang="en-US" sz="1000">
                <a:solidFill>
                  <a:schemeClr val="dk1"/>
                </a:solidFill>
                <a:latin typeface="Courier New"/>
                <a:ea typeface="Courier New"/>
                <a:cs typeface="Courier New"/>
                <a:sym typeface="Courier New"/>
              </a:rPr>
              <a:t>0 = failure</a:t>
            </a:r>
            <a:r>
              <a:rPr lang="en-US" sz="1000">
                <a:solidFill>
                  <a:schemeClr val="dk1"/>
                </a:solidFill>
                <a:latin typeface="Georgia"/>
                <a:ea typeface="Georgia"/>
                <a:cs typeface="Georgia"/>
                <a:sym typeface="Georgia"/>
              </a:rPr>
              <a:t>.</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Feature-ready table</a:t>
            </a:r>
            <a:r>
              <a:rPr lang="en-US" sz="1000">
                <a:solidFill>
                  <a:schemeClr val="dk1"/>
                </a:solidFill>
                <a:latin typeface="Georgia"/>
                <a:ea typeface="Georgia"/>
                <a:cs typeface="Georgia"/>
                <a:sym typeface="Georgia"/>
              </a:rPr>
              <a:t>: Export des finalen Modellierungsdatensatzes als CSV.</a:t>
            </a:r>
            <a:endParaRPr sz="1000">
              <a:solidFill>
                <a:schemeClr val="dk1"/>
              </a:solidFill>
              <a:latin typeface="Georgia"/>
              <a:ea typeface="Georgia"/>
              <a:cs typeface="Georgia"/>
              <a:sym typeface="Georgia"/>
            </a:endParaRPr>
          </a:p>
          <a:p>
            <a:pPr indent="0" lvl="0" marL="0" marR="0" rtl="0" algn="l">
              <a:lnSpc>
                <a:spcPct val="90000"/>
              </a:lnSpc>
              <a:spcBef>
                <a:spcPts val="1000"/>
              </a:spcBef>
              <a:spcAft>
                <a:spcPts val="0"/>
              </a:spcAft>
              <a:buNone/>
            </a:pPr>
            <a:r>
              <a:rPr lang="en-US" sz="1000">
                <a:solidFill>
                  <a:srgbClr val="292929"/>
                </a:solidFill>
                <a:latin typeface="Arial"/>
                <a:ea typeface="Arial"/>
                <a:cs typeface="Arial"/>
                <a:sym typeface="Arial"/>
              </a:rPr>
              <a:t>GitHub URL </a:t>
            </a:r>
            <a:r>
              <a:rPr lang="en-US" sz="1000">
                <a:solidFill>
                  <a:srgbClr val="292929"/>
                </a:solidFill>
              </a:rPr>
              <a:t>https://github.com/gnembac/IBM_Datascience_Capstone_PRJ/blob/d7b4d9271b0fce764147d878e0a3bf6d99c6e058/labs-jupyter-spacex-Data%20wrangling%20(3).ipynb</a:t>
            </a:r>
            <a:endParaRPr sz="1000"/>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169" name="Google Shape;169;p10"/>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Data Wrangling</a:t>
            </a:r>
            <a:endParaRPr/>
          </a:p>
        </p:txBody>
      </p:sp>
      <p:pic>
        <p:nvPicPr>
          <p:cNvPr id="170" name="Google Shape;170;p10"/>
          <p:cNvPicPr preferRelativeResize="0"/>
          <p:nvPr/>
        </p:nvPicPr>
        <p:blipFill>
          <a:blip r:embed="rId4">
            <a:alphaModFix/>
          </a:blip>
          <a:stretch>
            <a:fillRect/>
          </a:stretch>
        </p:blipFill>
        <p:spPr>
          <a:xfrm>
            <a:off x="8783850" y="1007100"/>
            <a:ext cx="1503450" cy="58508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11"/>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6" name="Google Shape;176;p11"/>
          <p:cNvSpPr txBox="1"/>
          <p:nvPr>
            <p:ph idx="1" type="body"/>
          </p:nvPr>
        </p:nvSpPr>
        <p:spPr>
          <a:xfrm>
            <a:off x="769994" y="1825625"/>
            <a:ext cx="104433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00"/>
              </a:spcBef>
              <a:spcAft>
                <a:spcPts val="0"/>
              </a:spcAft>
              <a:buNone/>
            </a:pPr>
            <a:r>
              <a:rPr lang="en-US" sz="1000">
                <a:solidFill>
                  <a:schemeClr val="dk1"/>
                </a:solidFill>
                <a:latin typeface="Georgia"/>
                <a:ea typeface="Georgia"/>
                <a:cs typeface="Georgia"/>
                <a:sym typeface="Georgia"/>
              </a:rPr>
              <a:t>The notebook used scatter plots to explore how launch success relates to flight number, launch site, orbit type, and payload mass, and it used a bar chart to compare success rates across orbit types. Scatter plots were best for showing patterns and clustering, while the bar chart was best for comparing categorical success rates.</a:t>
            </a:r>
            <a:r>
              <a:rPr lang="en-US" sz="1000">
                <a:solidFill>
                  <a:schemeClr val="dk1"/>
                </a:solidFill>
              </a:rPr>
              <a:t> </a:t>
            </a:r>
            <a:endParaRPr sz="10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US" sz="900">
                <a:solidFill>
                  <a:schemeClr val="dk1"/>
                </a:solidFill>
                <a:latin typeface="Georgia"/>
                <a:ea typeface="Georgia"/>
                <a:cs typeface="Georgia"/>
                <a:sym typeface="Georgia"/>
              </a:rPr>
              <a:t>The notebook plots a small set of EDA charts centered on launch success, orbit, payload mass, and launch site behavior. The main goal was to reveal patterns that help explain when Falcon 9 first-stage landings succeed or fail.</a:t>
            </a:r>
            <a:endParaRPr sz="900">
              <a:solidFill>
                <a:schemeClr val="dk1"/>
              </a:solidFill>
              <a:latin typeface="Georgia"/>
              <a:ea typeface="Georgia"/>
              <a:cs typeface="Georgia"/>
              <a:sym typeface="Georgia"/>
            </a:endParaRPr>
          </a:p>
          <a:p>
            <a:pPr indent="0" lvl="0" marL="0" rtl="0" algn="l">
              <a:lnSpc>
                <a:spcPct val="125000"/>
              </a:lnSpc>
              <a:spcBef>
                <a:spcPts val="1800"/>
              </a:spcBef>
              <a:spcAft>
                <a:spcPts val="0"/>
              </a:spcAft>
              <a:buClr>
                <a:schemeClr val="dk1"/>
              </a:buClr>
              <a:buSzPts val="1100"/>
              <a:buFont typeface="Arial"/>
              <a:buNone/>
            </a:pPr>
            <a:r>
              <a:rPr b="1" lang="en-US" sz="900">
                <a:solidFill>
                  <a:schemeClr val="dk1"/>
                </a:solidFill>
              </a:rPr>
              <a:t>Charts plotted</a:t>
            </a:r>
            <a:endParaRPr b="1" sz="900">
              <a:solidFill>
                <a:schemeClr val="dk1"/>
              </a:solidFill>
            </a:endParaRPr>
          </a:p>
          <a:p>
            <a:pPr indent="-285750" lvl="0" marL="457200" rtl="0" algn="l">
              <a:lnSpc>
                <a:spcPct val="115000"/>
              </a:lnSpc>
              <a:spcBef>
                <a:spcPts val="40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Scatter plot: Flight Number vs. Launch Site, colored by Class.</a:t>
            </a:r>
            <a:r>
              <a:rPr lang="en-US" sz="900">
                <a:solidFill>
                  <a:schemeClr val="dk1"/>
                </a:solidFill>
                <a:latin typeface="Georgia"/>
                <a:ea typeface="Georgia"/>
                <a:cs typeface="Georgia"/>
                <a:sym typeface="Georgia"/>
              </a:rPr>
              <a:t> This was used to see whether launch outcomes changed over time at each site and whether success clustered by site.</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Bar chart: Success Rate by Orbit Type.</a:t>
            </a:r>
            <a:r>
              <a:rPr lang="en-US" sz="900">
                <a:solidFill>
                  <a:schemeClr val="dk1"/>
                </a:solidFill>
                <a:latin typeface="Georgia"/>
                <a:ea typeface="Georgia"/>
                <a:cs typeface="Georgia"/>
                <a:sym typeface="Georgia"/>
              </a:rPr>
              <a:t> This was used to compare the average success rate across orbit categories, which is a simple way to rank orbit types by landing outcome.</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Scatter plot: Flight Number vs. Orbit Type.</a:t>
            </a:r>
            <a:r>
              <a:rPr lang="en-US" sz="900">
                <a:solidFill>
                  <a:schemeClr val="dk1"/>
                </a:solidFill>
                <a:latin typeface="Georgia"/>
                <a:ea typeface="Georgia"/>
                <a:cs typeface="Georgia"/>
                <a:sym typeface="Georgia"/>
              </a:rPr>
              <a:t> This was used to inspect whether later flights were associated with different orbit patterns and whether some orbit types showed more successful launches as flight number increased.</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Scatter plot: Payload Mass vs. Orbit Type.</a:t>
            </a:r>
            <a:r>
              <a:rPr lang="en-US" sz="900">
                <a:solidFill>
                  <a:schemeClr val="dk1"/>
                </a:solidFill>
                <a:latin typeface="Georgia"/>
                <a:ea typeface="Georgia"/>
                <a:cs typeface="Georgia"/>
                <a:sym typeface="Georgia"/>
              </a:rPr>
              <a:t> This was used to check whether payload weight was linked to specific orbit choices and whether payload mass appeared related to landing success.</a:t>
            </a:r>
            <a:endParaRPr sz="900">
              <a:solidFill>
                <a:schemeClr val="dk1"/>
              </a:solidFill>
              <a:latin typeface="Georgia"/>
              <a:ea typeface="Georgia"/>
              <a:cs typeface="Georgia"/>
              <a:sym typeface="Georgia"/>
            </a:endParaRPr>
          </a:p>
          <a:p>
            <a:pPr indent="0" lvl="0" marL="0" rtl="0" algn="l">
              <a:lnSpc>
                <a:spcPct val="125000"/>
              </a:lnSpc>
              <a:spcBef>
                <a:spcPts val="1800"/>
              </a:spcBef>
              <a:spcAft>
                <a:spcPts val="0"/>
              </a:spcAft>
              <a:buClr>
                <a:schemeClr val="dk1"/>
              </a:buClr>
              <a:buSzPts val="1100"/>
              <a:buFont typeface="Arial"/>
              <a:buNone/>
            </a:pPr>
            <a:r>
              <a:rPr b="1" lang="en-US" sz="900">
                <a:solidFill>
                  <a:schemeClr val="dk1"/>
                </a:solidFill>
              </a:rPr>
              <a:t>Why these charts</a:t>
            </a:r>
            <a:endParaRPr b="1" sz="900">
              <a:solidFill>
                <a:schemeClr val="dk1"/>
              </a:solidFill>
            </a:endParaRPr>
          </a:p>
          <a:p>
            <a:pPr indent="-285750" lvl="0" marL="457200" rtl="0" algn="l">
              <a:lnSpc>
                <a:spcPct val="115000"/>
              </a:lnSpc>
              <a:spcBef>
                <a:spcPts val="40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Scatter plots</a:t>
            </a:r>
            <a:r>
              <a:rPr lang="en-US" sz="900">
                <a:solidFill>
                  <a:schemeClr val="dk1"/>
                </a:solidFill>
                <a:latin typeface="Georgia"/>
                <a:ea typeface="Georgia"/>
                <a:cs typeface="Georgia"/>
                <a:sym typeface="Georgia"/>
              </a:rPr>
              <a:t> were chosen for relationships between one numeric variable and one categorical variable because they make trends, clustering, and separation between success classes easy to see.</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Bar charts</a:t>
            </a:r>
            <a:r>
              <a:rPr lang="en-US" sz="900">
                <a:solidFill>
                  <a:schemeClr val="dk1"/>
                </a:solidFill>
                <a:latin typeface="Georgia"/>
                <a:ea typeface="Georgia"/>
                <a:cs typeface="Georgia"/>
                <a:sym typeface="Georgia"/>
              </a:rPr>
              <a:t> were chosen for orbit success rate because the task was to compare categories directly, and a bar chart makes relative performance easy to read.</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Color coding by Class</a:t>
            </a:r>
            <a:r>
              <a:rPr lang="en-US" sz="900">
                <a:solidFill>
                  <a:schemeClr val="dk1"/>
                </a:solidFill>
                <a:latin typeface="Georgia"/>
                <a:ea typeface="Georgia"/>
                <a:cs typeface="Georgia"/>
                <a:sym typeface="Georgia"/>
              </a:rPr>
              <a:t> was used to separate success and failure visually, which makes landing patterns more interpretable without adding extra tables.</a:t>
            </a:r>
            <a:endParaRPr sz="900">
              <a:solidFill>
                <a:schemeClr val="dk1"/>
              </a:solidFill>
              <a:latin typeface="Georgia"/>
              <a:ea typeface="Georgia"/>
              <a:cs typeface="Georgia"/>
              <a:sym typeface="Georgia"/>
            </a:endParaRPr>
          </a:p>
          <a:p>
            <a:pPr indent="0" lvl="0" marL="0" rtl="0" algn="l">
              <a:lnSpc>
                <a:spcPct val="125000"/>
              </a:lnSpc>
              <a:spcBef>
                <a:spcPts val="1800"/>
              </a:spcBef>
              <a:spcAft>
                <a:spcPts val="0"/>
              </a:spcAft>
              <a:buClr>
                <a:schemeClr val="dk1"/>
              </a:buClr>
              <a:buSzPts val="1100"/>
              <a:buFont typeface="Arial"/>
              <a:buNone/>
            </a:pPr>
            <a:r>
              <a:rPr b="1" lang="en-US" sz="900">
                <a:solidFill>
                  <a:schemeClr val="dk1"/>
                </a:solidFill>
              </a:rPr>
              <a:t>What the visuals showed</a:t>
            </a:r>
            <a:endParaRPr b="1" sz="900">
              <a:solidFill>
                <a:schemeClr val="dk1"/>
              </a:solidFill>
            </a:endParaRPr>
          </a:p>
          <a:p>
            <a:pPr indent="-285750" lvl="0" marL="457200" rtl="0" algn="l">
              <a:lnSpc>
                <a:spcPct val="115000"/>
              </a:lnSpc>
              <a:spcBef>
                <a:spcPts val="400"/>
              </a:spcBef>
              <a:spcAft>
                <a:spcPts val="0"/>
              </a:spcAft>
              <a:buClr>
                <a:schemeClr val="dk1"/>
              </a:buClr>
              <a:buSzPts val="900"/>
              <a:buFont typeface="Georgia"/>
              <a:buChar char="●"/>
            </a:pPr>
            <a:r>
              <a:rPr lang="en-US" sz="900">
                <a:solidFill>
                  <a:schemeClr val="dk1"/>
                </a:solidFill>
                <a:latin typeface="Georgia"/>
                <a:ea typeface="Georgia"/>
                <a:cs typeface="Georgia"/>
                <a:sym typeface="Georgia"/>
              </a:rPr>
              <a:t>The </a:t>
            </a:r>
            <a:r>
              <a:rPr b="1" lang="en-US" sz="900">
                <a:solidFill>
                  <a:schemeClr val="dk1"/>
                </a:solidFill>
                <a:latin typeface="Georgia"/>
                <a:ea typeface="Georgia"/>
                <a:cs typeface="Georgia"/>
                <a:sym typeface="Georgia"/>
              </a:rPr>
              <a:t>Flight Number vs. Launch Site</a:t>
            </a:r>
            <a:r>
              <a:rPr lang="en-US" sz="900">
                <a:solidFill>
                  <a:schemeClr val="dk1"/>
                </a:solidFill>
                <a:latin typeface="Georgia"/>
                <a:ea typeface="Georgia"/>
                <a:cs typeface="Georgia"/>
                <a:sym typeface="Georgia"/>
              </a:rPr>
              <a:t> chart was used to compare site behavior over time and to spot differences between launch locations.</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lang="en-US" sz="900">
                <a:solidFill>
                  <a:schemeClr val="dk1"/>
                </a:solidFill>
                <a:latin typeface="Georgia"/>
                <a:ea typeface="Georgia"/>
                <a:cs typeface="Georgia"/>
                <a:sym typeface="Georgia"/>
              </a:rPr>
              <a:t>The </a:t>
            </a:r>
            <a:r>
              <a:rPr b="1" lang="en-US" sz="900">
                <a:solidFill>
                  <a:schemeClr val="dk1"/>
                </a:solidFill>
                <a:latin typeface="Georgia"/>
                <a:ea typeface="Georgia"/>
                <a:cs typeface="Georgia"/>
                <a:sym typeface="Georgia"/>
              </a:rPr>
              <a:t>success-rate bar chart</a:t>
            </a:r>
            <a:r>
              <a:rPr lang="en-US" sz="900">
                <a:solidFill>
                  <a:schemeClr val="dk1"/>
                </a:solidFill>
                <a:latin typeface="Georgia"/>
                <a:ea typeface="Georgia"/>
                <a:cs typeface="Georgia"/>
                <a:sym typeface="Georgia"/>
              </a:rPr>
              <a:t> highlighted which orbit types were more favorable for successful landings.</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lang="en-US" sz="900">
                <a:solidFill>
                  <a:schemeClr val="dk1"/>
                </a:solidFill>
                <a:latin typeface="Georgia"/>
                <a:ea typeface="Georgia"/>
                <a:cs typeface="Georgia"/>
                <a:sym typeface="Georgia"/>
              </a:rPr>
              <a:t>The </a:t>
            </a:r>
            <a:r>
              <a:rPr b="1" lang="en-US" sz="900">
                <a:solidFill>
                  <a:schemeClr val="dk1"/>
                </a:solidFill>
                <a:latin typeface="Georgia"/>
                <a:ea typeface="Georgia"/>
                <a:cs typeface="Georgia"/>
                <a:sym typeface="Georgia"/>
              </a:rPr>
              <a:t>Flight Number vs. Orbit</a:t>
            </a:r>
            <a:r>
              <a:rPr lang="en-US" sz="900">
                <a:solidFill>
                  <a:schemeClr val="dk1"/>
                </a:solidFill>
                <a:latin typeface="Georgia"/>
                <a:ea typeface="Georgia"/>
                <a:cs typeface="Georgia"/>
                <a:sym typeface="Georgia"/>
              </a:rPr>
              <a:t> plot suggested that some orbit types, especially LEO, showed a clearer relationship with increasing flight number than others.</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lang="en-US" sz="900">
                <a:solidFill>
                  <a:schemeClr val="dk1"/>
                </a:solidFill>
                <a:latin typeface="Georgia"/>
                <a:ea typeface="Georgia"/>
                <a:cs typeface="Georgia"/>
                <a:sym typeface="Georgia"/>
              </a:rPr>
              <a:t>The </a:t>
            </a:r>
            <a:r>
              <a:rPr b="1" lang="en-US" sz="900">
                <a:solidFill>
                  <a:schemeClr val="dk1"/>
                </a:solidFill>
                <a:latin typeface="Georgia"/>
                <a:ea typeface="Georgia"/>
                <a:cs typeface="Georgia"/>
                <a:sym typeface="Georgia"/>
              </a:rPr>
              <a:t>Payload Mass vs. Orbit</a:t>
            </a:r>
            <a:r>
              <a:rPr lang="en-US" sz="900">
                <a:solidFill>
                  <a:schemeClr val="dk1"/>
                </a:solidFill>
                <a:latin typeface="Georgia"/>
                <a:ea typeface="Georgia"/>
                <a:cs typeface="Georgia"/>
                <a:sym typeface="Georgia"/>
              </a:rPr>
              <a:t> plot helped show how payload constraints differ by orbit, including the observation that very heavy payloads were not launched from VAFB-SLC in the notebook’s analysis.</a:t>
            </a:r>
            <a:endParaRPr sz="2200">
              <a:solidFill>
                <a:schemeClr val="dk1"/>
              </a:solidFill>
            </a:endParaRPr>
          </a:p>
          <a:p>
            <a:pPr indent="0" lvl="0" marL="0" marR="0" rtl="0" algn="l">
              <a:lnSpc>
                <a:spcPct val="100000"/>
              </a:lnSpc>
              <a:spcBef>
                <a:spcPts val="1400"/>
              </a:spcBef>
              <a:spcAft>
                <a:spcPts val="0"/>
              </a:spcAft>
              <a:buNone/>
            </a:pPr>
            <a:r>
              <a:rPr lang="en-US" sz="1000">
                <a:solidFill>
                  <a:srgbClr val="292929"/>
                </a:solidFill>
                <a:latin typeface="Arial"/>
                <a:ea typeface="Arial"/>
                <a:cs typeface="Arial"/>
                <a:sym typeface="Arial"/>
              </a:rPr>
              <a:t>GitHub URL</a:t>
            </a:r>
            <a:r>
              <a:rPr lang="en-US" sz="1000">
                <a:solidFill>
                  <a:srgbClr val="292929"/>
                </a:solidFill>
              </a:rPr>
              <a:t>https://github.com/gnembac/IBM_Datascience_Capstone_PRJ/blob/43a036964402ff6f4bec78a0f9acdd419aeee439/edadataviz.ipynb</a:t>
            </a:r>
            <a:endParaRPr sz="1000">
              <a:solidFill>
                <a:schemeClr val="dk1"/>
              </a:solidFill>
              <a:latin typeface="Calibri"/>
              <a:ea typeface="Calibri"/>
              <a:cs typeface="Calibri"/>
              <a:sym typeface="Calibri"/>
            </a:endParaRPr>
          </a:p>
        </p:txBody>
      </p:sp>
      <p:sp>
        <p:nvSpPr>
          <p:cNvPr id="177" name="Google Shape;177;p11"/>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EDA with Data Visualization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12"/>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3" name="Google Shape;183;p12"/>
          <p:cNvSpPr txBox="1"/>
          <p:nvPr>
            <p:ph idx="1" type="body"/>
          </p:nvPr>
        </p:nvSpPr>
        <p:spPr>
          <a:xfrm>
            <a:off x="769999" y="1806575"/>
            <a:ext cx="10386000" cy="43512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Loaded the SpaceX dataset into SQLite.</a:t>
            </a:r>
            <a:r>
              <a:rPr lang="en-US" sz="1000">
                <a:solidFill>
                  <a:schemeClr val="dk1"/>
                </a:solidFill>
                <a:latin typeface="Georgia"/>
                <a:ea typeface="Georgia"/>
                <a:cs typeface="Georgia"/>
                <a:sym typeface="Georgia"/>
              </a:rPr>
              <a:t> I imported the CSV into a table called </a:t>
            </a:r>
            <a:r>
              <a:rPr lang="en-US" sz="1000">
                <a:solidFill>
                  <a:schemeClr val="dk1"/>
                </a:solidFill>
                <a:latin typeface="Courier New"/>
                <a:ea typeface="Courier New"/>
                <a:cs typeface="Courier New"/>
                <a:sym typeface="Courier New"/>
              </a:rPr>
              <a:t>SPACEXTBL</a:t>
            </a:r>
            <a:r>
              <a:rPr lang="en-US" sz="1000">
                <a:solidFill>
                  <a:schemeClr val="dk1"/>
                </a:solidFill>
                <a:latin typeface="Georgia"/>
                <a:ea typeface="Georgia"/>
                <a:cs typeface="Georgia"/>
                <a:sym typeface="Georgia"/>
              </a:rPr>
              <a:t>, then created a cleaned working table </a:t>
            </a:r>
            <a:r>
              <a:rPr lang="en-US" sz="1000">
                <a:solidFill>
                  <a:schemeClr val="dk1"/>
                </a:solidFill>
                <a:latin typeface="Courier New"/>
                <a:ea typeface="Courier New"/>
                <a:cs typeface="Courier New"/>
                <a:sym typeface="Courier New"/>
              </a:rPr>
              <a:t>SPACEXTABLE</a:t>
            </a:r>
            <a:r>
              <a:rPr lang="en-US" sz="1000">
                <a:solidFill>
                  <a:schemeClr val="dk1"/>
                </a:solidFill>
                <a:latin typeface="Georgia"/>
                <a:ea typeface="Georgia"/>
                <a:cs typeface="Georgia"/>
                <a:sym typeface="Georgia"/>
              </a:rPr>
              <a:t> after removing blank rows.</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Listed all unique launch sites.</a:t>
            </a:r>
            <a:r>
              <a:rPr lang="en-US" sz="1000">
                <a:solidFill>
                  <a:schemeClr val="dk1"/>
                </a:solidFill>
                <a:latin typeface="Georgia"/>
                <a:ea typeface="Georgia"/>
                <a:cs typeface="Georgia"/>
                <a:sym typeface="Georgia"/>
              </a:rPr>
              <a:t> I used </a:t>
            </a:r>
            <a:r>
              <a:rPr lang="en-US" sz="1000">
                <a:solidFill>
                  <a:schemeClr val="dk1"/>
                </a:solidFill>
                <a:latin typeface="Courier New"/>
                <a:ea typeface="Courier New"/>
                <a:cs typeface="Courier New"/>
                <a:sym typeface="Courier New"/>
              </a:rPr>
              <a:t>SELECT DISTINCT LaunchSite FROM SPACEXTABLE</a:t>
            </a:r>
            <a:r>
              <a:rPr lang="en-US" sz="1000">
                <a:solidFill>
                  <a:schemeClr val="dk1"/>
                </a:solidFill>
                <a:latin typeface="Georgia"/>
                <a:ea typeface="Georgia"/>
                <a:cs typeface="Georgia"/>
                <a:sym typeface="Georgia"/>
              </a:rPr>
              <a:t> to identify the available launch locations.</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Filtered launch sites by string pattern.</a:t>
            </a:r>
            <a:r>
              <a:rPr lang="en-US" sz="1000">
                <a:solidFill>
                  <a:schemeClr val="dk1"/>
                </a:solidFill>
                <a:latin typeface="Georgia"/>
                <a:ea typeface="Georgia"/>
                <a:cs typeface="Georgia"/>
                <a:sym typeface="Georgia"/>
              </a:rPr>
              <a:t> I queried launch sites beginning with </a:t>
            </a:r>
            <a:r>
              <a:rPr lang="en-US" sz="1000">
                <a:solidFill>
                  <a:schemeClr val="dk1"/>
                </a:solidFill>
                <a:latin typeface="Courier New"/>
                <a:ea typeface="Courier New"/>
                <a:cs typeface="Courier New"/>
                <a:sym typeface="Courier New"/>
              </a:rPr>
              <a:t>CCA</a:t>
            </a:r>
            <a:r>
              <a:rPr lang="en-US" sz="1000">
                <a:solidFill>
                  <a:schemeClr val="dk1"/>
                </a:solidFill>
                <a:latin typeface="Georgia"/>
                <a:ea typeface="Georgia"/>
                <a:cs typeface="Georgia"/>
                <a:sym typeface="Georgia"/>
              </a:rPr>
              <a:t> using a </a:t>
            </a:r>
            <a:r>
              <a:rPr lang="en-US" sz="1000">
                <a:solidFill>
                  <a:schemeClr val="dk1"/>
                </a:solidFill>
                <a:latin typeface="Courier New"/>
                <a:ea typeface="Courier New"/>
                <a:cs typeface="Courier New"/>
                <a:sym typeface="Courier New"/>
              </a:rPr>
              <a:t>LIKE</a:t>
            </a:r>
            <a:r>
              <a:rPr lang="en-US" sz="1000">
                <a:solidFill>
                  <a:schemeClr val="dk1"/>
                </a:solidFill>
                <a:latin typeface="Georgia"/>
                <a:ea typeface="Georgia"/>
                <a:cs typeface="Georgia"/>
                <a:sym typeface="Georgia"/>
              </a:rPr>
              <a:t> condition to return the CCAFS-related sites.</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Computed total payload mass for NASA CRS missions.</a:t>
            </a:r>
            <a:r>
              <a:rPr lang="en-US" sz="1000">
                <a:solidFill>
                  <a:schemeClr val="dk1"/>
                </a:solidFill>
                <a:latin typeface="Georgia"/>
                <a:ea typeface="Georgia"/>
                <a:cs typeface="Georgia"/>
                <a:sym typeface="Georgia"/>
              </a:rPr>
              <a:t> I used </a:t>
            </a:r>
            <a:r>
              <a:rPr lang="en-US" sz="1000">
                <a:solidFill>
                  <a:schemeClr val="dk1"/>
                </a:solidFill>
                <a:latin typeface="Courier New"/>
                <a:ea typeface="Courier New"/>
                <a:cs typeface="Courier New"/>
                <a:sym typeface="Courier New"/>
              </a:rPr>
              <a:t>SUM(PAYLOADMASSKG)</a:t>
            </a:r>
            <a:r>
              <a:rPr lang="en-US" sz="1000">
                <a:solidFill>
                  <a:schemeClr val="dk1"/>
                </a:solidFill>
                <a:latin typeface="Georgia"/>
                <a:ea typeface="Georgia"/>
                <a:cs typeface="Georgia"/>
                <a:sym typeface="Georgia"/>
              </a:rPr>
              <a:t> with a customer filter to measure the total payload carried for NASA CRS launches.</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Selected payload details for NASA CRS records.</a:t>
            </a:r>
            <a:r>
              <a:rPr lang="en-US" sz="1000">
                <a:solidFill>
                  <a:schemeClr val="dk1"/>
                </a:solidFill>
                <a:latin typeface="Georgia"/>
                <a:ea typeface="Georgia"/>
                <a:cs typeface="Georgia"/>
                <a:sym typeface="Georgia"/>
              </a:rPr>
              <a:t> I retrieved payload mass, booster version, and customer fields to inspect individual NASA CRS launches more closely.</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Calculated average payload mass for booster version F9 v1.1.</a:t>
            </a:r>
            <a:r>
              <a:rPr lang="en-US" sz="1000">
                <a:solidFill>
                  <a:schemeClr val="dk1"/>
                </a:solidFill>
                <a:latin typeface="Georgia"/>
                <a:ea typeface="Georgia"/>
                <a:cs typeface="Georgia"/>
                <a:sym typeface="Georgia"/>
              </a:rPr>
              <a:t> I used </a:t>
            </a:r>
            <a:r>
              <a:rPr lang="en-US" sz="1000">
                <a:solidFill>
                  <a:schemeClr val="dk1"/>
                </a:solidFill>
                <a:latin typeface="Courier New"/>
                <a:ea typeface="Courier New"/>
                <a:cs typeface="Courier New"/>
                <a:sym typeface="Courier New"/>
              </a:rPr>
              <a:t>AVG(PAYLOADMASSKG)</a:t>
            </a:r>
            <a:r>
              <a:rPr lang="en-US" sz="1000">
                <a:solidFill>
                  <a:schemeClr val="dk1"/>
                </a:solidFill>
                <a:latin typeface="Georgia"/>
                <a:ea typeface="Georgia"/>
                <a:cs typeface="Georgia"/>
                <a:sym typeface="Georgia"/>
              </a:rPr>
              <a:t> with a booster-version filter to summarize typical payload weight for that rocket version.</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Found the first successful ground pad landing date.</a:t>
            </a:r>
            <a:r>
              <a:rPr lang="en-US" sz="1000">
                <a:solidFill>
                  <a:schemeClr val="dk1"/>
                </a:solidFill>
                <a:latin typeface="Georgia"/>
                <a:ea typeface="Georgia"/>
                <a:cs typeface="Georgia"/>
                <a:sym typeface="Georgia"/>
              </a:rPr>
              <a:t> I used </a:t>
            </a:r>
            <a:r>
              <a:rPr lang="en-US" sz="1000">
                <a:solidFill>
                  <a:schemeClr val="dk1"/>
                </a:solidFill>
                <a:latin typeface="Courier New"/>
                <a:ea typeface="Courier New"/>
                <a:cs typeface="Courier New"/>
                <a:sym typeface="Courier New"/>
              </a:rPr>
              <a:t>MIN(Date)</a:t>
            </a:r>
            <a:r>
              <a:rPr lang="en-US" sz="1000">
                <a:solidFill>
                  <a:schemeClr val="dk1"/>
                </a:solidFill>
                <a:latin typeface="Georgia"/>
                <a:ea typeface="Georgia"/>
                <a:cs typeface="Georgia"/>
                <a:sym typeface="Georgia"/>
              </a:rPr>
              <a:t> filtered by </a:t>
            </a:r>
            <a:r>
              <a:rPr lang="en-US" sz="1000">
                <a:solidFill>
                  <a:schemeClr val="dk1"/>
                </a:solidFill>
                <a:latin typeface="Courier New"/>
                <a:ea typeface="Courier New"/>
                <a:cs typeface="Courier New"/>
                <a:sym typeface="Courier New"/>
              </a:rPr>
              <a:t>LandingOutcome = 'Success ground pad'</a:t>
            </a:r>
            <a:r>
              <a:rPr lang="en-US" sz="1000">
                <a:solidFill>
                  <a:schemeClr val="dk1"/>
                </a:solidFill>
                <a:latin typeface="Georgia"/>
                <a:ea typeface="Georgia"/>
                <a:cs typeface="Georgia"/>
                <a:sym typeface="Georgia"/>
              </a:rPr>
              <a:t> to identify when that milestone first occurred.</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Listed boosters with successful drone ship landings and mid-range payloads.</a:t>
            </a:r>
            <a:r>
              <a:rPr lang="en-US" sz="1000">
                <a:solidFill>
                  <a:schemeClr val="dk1"/>
                </a:solidFill>
                <a:latin typeface="Georgia"/>
                <a:ea typeface="Georgia"/>
                <a:cs typeface="Georgia"/>
                <a:sym typeface="Georgia"/>
              </a:rPr>
              <a:t> I filtered by </a:t>
            </a:r>
            <a:r>
              <a:rPr lang="en-US" sz="1000">
                <a:solidFill>
                  <a:schemeClr val="dk1"/>
                </a:solidFill>
                <a:latin typeface="Courier New"/>
                <a:ea typeface="Courier New"/>
                <a:cs typeface="Courier New"/>
                <a:sym typeface="Courier New"/>
              </a:rPr>
              <a:t>LandingOutcome = 'Success drone ship'</a:t>
            </a:r>
            <a:r>
              <a:rPr lang="en-US" sz="1000">
                <a:solidFill>
                  <a:schemeClr val="dk1"/>
                </a:solidFill>
                <a:latin typeface="Georgia"/>
                <a:ea typeface="Georgia"/>
                <a:cs typeface="Georgia"/>
                <a:sym typeface="Georgia"/>
              </a:rPr>
              <a:t> and </a:t>
            </a:r>
            <a:r>
              <a:rPr lang="en-US" sz="1000">
                <a:solidFill>
                  <a:schemeClr val="dk1"/>
                </a:solidFill>
                <a:latin typeface="Courier New"/>
                <a:ea typeface="Courier New"/>
                <a:cs typeface="Courier New"/>
                <a:sym typeface="Courier New"/>
              </a:rPr>
              <a:t>PAYLOADMASSKG BETWEEN 4000 AND 6000</a:t>
            </a:r>
            <a:r>
              <a:rPr lang="en-US" sz="1000">
                <a:solidFill>
                  <a:schemeClr val="dk1"/>
                </a:solidFill>
                <a:latin typeface="Georgia"/>
                <a:ea typeface="Georgia"/>
                <a:cs typeface="Georgia"/>
                <a:sym typeface="Georgia"/>
              </a:rPr>
              <a:t> to find matching boosters.</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Counted successful vs. failed mission outcomes.</a:t>
            </a:r>
            <a:r>
              <a:rPr lang="en-US" sz="1000">
                <a:solidFill>
                  <a:schemeClr val="dk1"/>
                </a:solidFill>
                <a:latin typeface="Georgia"/>
                <a:ea typeface="Georgia"/>
                <a:cs typeface="Georgia"/>
                <a:sym typeface="Georgia"/>
              </a:rPr>
              <a:t> I used conditional counting with </a:t>
            </a:r>
            <a:r>
              <a:rPr lang="en-US" sz="1000">
                <a:solidFill>
                  <a:schemeClr val="dk1"/>
                </a:solidFill>
                <a:latin typeface="Courier New"/>
                <a:ea typeface="Courier New"/>
                <a:cs typeface="Courier New"/>
                <a:sym typeface="Courier New"/>
              </a:rPr>
              <a:t>CASE WHEN</a:t>
            </a:r>
            <a:r>
              <a:rPr lang="en-US" sz="1000">
                <a:solidFill>
                  <a:schemeClr val="dk1"/>
                </a:solidFill>
                <a:latin typeface="Georgia"/>
                <a:ea typeface="Georgia"/>
                <a:cs typeface="Georgia"/>
                <a:sym typeface="Georgia"/>
              </a:rPr>
              <a:t> expressions to compare overall success and failure totals.</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Found boosters carrying the maximum payload.</a:t>
            </a:r>
            <a:r>
              <a:rPr lang="en-US" sz="1000">
                <a:solidFill>
                  <a:schemeClr val="dk1"/>
                </a:solidFill>
                <a:latin typeface="Georgia"/>
                <a:ea typeface="Georgia"/>
                <a:cs typeface="Georgia"/>
                <a:sym typeface="Georgia"/>
              </a:rPr>
              <a:t> I used a subquery with </a:t>
            </a:r>
            <a:r>
              <a:rPr lang="en-US" sz="1000">
                <a:solidFill>
                  <a:schemeClr val="dk1"/>
                </a:solidFill>
                <a:latin typeface="Courier New"/>
                <a:ea typeface="Courier New"/>
                <a:cs typeface="Courier New"/>
                <a:sym typeface="Courier New"/>
              </a:rPr>
              <a:t>MAX(PAYLOADMASSKG)</a:t>
            </a:r>
            <a:r>
              <a:rPr lang="en-US" sz="1000">
                <a:solidFill>
                  <a:schemeClr val="dk1"/>
                </a:solidFill>
                <a:latin typeface="Georgia"/>
                <a:ea typeface="Georgia"/>
                <a:cs typeface="Georgia"/>
                <a:sym typeface="Georgia"/>
              </a:rPr>
              <a:t> to return every booster version tied to the heaviest payload.</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Extracted 2015 drone-ship failure records.</a:t>
            </a:r>
            <a:r>
              <a:rPr lang="en-US" sz="1000">
                <a:solidFill>
                  <a:schemeClr val="dk1"/>
                </a:solidFill>
                <a:latin typeface="Georgia"/>
                <a:ea typeface="Georgia"/>
                <a:cs typeface="Georgia"/>
                <a:sym typeface="Georgia"/>
              </a:rPr>
              <a:t> I used date substring logic to pull month-based records for 2015 where the landing outcome was a drone-ship failure.</a:t>
            </a:r>
            <a:endParaRPr sz="1000">
              <a:solidFill>
                <a:schemeClr val="dk1"/>
              </a:solidFill>
              <a:latin typeface="Georgia"/>
              <a:ea typeface="Georgia"/>
              <a:cs typeface="Georgia"/>
              <a:sym typeface="Georgia"/>
            </a:endParaRPr>
          </a:p>
          <a:p>
            <a:pPr indent="-292100" lvl="0" marL="457200" rtl="0" algn="l">
              <a:lnSpc>
                <a:spcPct val="115000"/>
              </a:lnSpc>
              <a:spcBef>
                <a:spcPts val="0"/>
              </a:spcBef>
              <a:spcAft>
                <a:spcPts val="0"/>
              </a:spcAft>
              <a:buClr>
                <a:schemeClr val="dk1"/>
              </a:buClr>
              <a:buSzPts val="1000"/>
              <a:buFont typeface="Georgia"/>
              <a:buChar char="●"/>
            </a:pPr>
            <a:r>
              <a:rPr b="1" lang="en-US" sz="1000">
                <a:solidFill>
                  <a:schemeClr val="dk1"/>
                </a:solidFill>
                <a:latin typeface="Georgia"/>
                <a:ea typeface="Georgia"/>
                <a:cs typeface="Georgia"/>
                <a:sym typeface="Georgia"/>
              </a:rPr>
              <a:t>Ranked landing outcomes by frequency.</a:t>
            </a:r>
            <a:r>
              <a:rPr lang="en-US" sz="1000">
                <a:solidFill>
                  <a:schemeClr val="dk1"/>
                </a:solidFill>
                <a:latin typeface="Georgia"/>
                <a:ea typeface="Georgia"/>
                <a:cs typeface="Georgia"/>
                <a:sym typeface="Georgia"/>
              </a:rPr>
              <a:t> I grouped by </a:t>
            </a:r>
            <a:r>
              <a:rPr lang="en-US" sz="1000">
                <a:solidFill>
                  <a:schemeClr val="dk1"/>
                </a:solidFill>
                <a:latin typeface="Courier New"/>
                <a:ea typeface="Courier New"/>
                <a:cs typeface="Courier New"/>
                <a:sym typeface="Courier New"/>
              </a:rPr>
              <a:t>LandingOutcome</a:t>
            </a:r>
            <a:r>
              <a:rPr lang="en-US" sz="1000">
                <a:solidFill>
                  <a:schemeClr val="dk1"/>
                </a:solidFill>
                <a:latin typeface="Georgia"/>
                <a:ea typeface="Georgia"/>
                <a:cs typeface="Georgia"/>
                <a:sym typeface="Georgia"/>
              </a:rPr>
              <a:t>, counted occurrences, and sorted descending to see which landing types appeared most often between 2010-06-04 and 2017-03-20.</a:t>
            </a:r>
            <a:endParaRPr sz="1000">
              <a:solidFill>
                <a:schemeClr val="dk1"/>
              </a:solidFill>
              <a:latin typeface="Georgia"/>
              <a:ea typeface="Georgia"/>
              <a:cs typeface="Georgia"/>
              <a:sym typeface="Georgia"/>
            </a:endParaRPr>
          </a:p>
          <a:p>
            <a:pPr indent="0" lvl="0" marL="0" marR="0" rtl="0" algn="l">
              <a:lnSpc>
                <a:spcPct val="100000"/>
              </a:lnSpc>
              <a:spcBef>
                <a:spcPts val="1400"/>
              </a:spcBef>
              <a:spcAft>
                <a:spcPts val="0"/>
              </a:spcAft>
              <a:buNone/>
            </a:pPr>
            <a:r>
              <a:rPr lang="en-US" sz="1000">
                <a:solidFill>
                  <a:srgbClr val="292929"/>
                </a:solidFill>
              </a:rPr>
              <a:t>GitHub URL: https://github.com/gnembac/IBM_Datascience_Capstone_PRJ/blob/4fc42e1cc0894dbc19d0144c427e8c40f5a64434/jupyter-labs-eda-sql-coursera_sqllite%20(4).ipynb</a:t>
            </a:r>
            <a:endParaRPr sz="1000">
              <a:solidFill>
                <a:srgbClr val="292929"/>
              </a:solidFill>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184" name="Google Shape;184;p12"/>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EDA with SQL</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p13"/>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0" name="Google Shape;190;p13"/>
          <p:cNvSpPr txBox="1"/>
          <p:nvPr>
            <p:ph idx="1" type="body"/>
          </p:nvPr>
        </p:nvSpPr>
        <p:spPr>
          <a:xfrm>
            <a:off x="838200" y="1875054"/>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93370" lvl="0" marL="4572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Map base layer:</a:t>
            </a:r>
            <a:r>
              <a:rPr lang="en-US" sz="1200">
                <a:solidFill>
                  <a:schemeClr val="dk1"/>
                </a:solidFill>
                <a:latin typeface="Georgia"/>
                <a:ea typeface="Georgia"/>
                <a:cs typeface="Georgia"/>
                <a:sym typeface="Georgia"/>
              </a:rPr>
              <a:t> I created a </a:t>
            </a:r>
            <a:r>
              <a:rPr lang="en-US" sz="1050">
                <a:solidFill>
                  <a:schemeClr val="dk1"/>
                </a:solidFill>
                <a:latin typeface="Courier New"/>
                <a:ea typeface="Courier New"/>
                <a:cs typeface="Courier New"/>
                <a:sym typeface="Courier New"/>
              </a:rPr>
              <a:t>folium.Map</a:t>
            </a:r>
            <a:r>
              <a:rPr lang="en-US" sz="1200">
                <a:solidFill>
                  <a:schemeClr val="dk1"/>
                </a:solidFill>
                <a:latin typeface="Georgia"/>
                <a:ea typeface="Georgia"/>
                <a:cs typeface="Georgia"/>
                <a:sym typeface="Georgia"/>
              </a:rPr>
              <a:t> centered on the NASA Johnson Space Center as the starting view for the launch-site analysis. This gave a geographic reference point for all later objects on the map.</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Circle objects:</a:t>
            </a:r>
            <a:r>
              <a:rPr lang="en-US" sz="1200">
                <a:solidFill>
                  <a:schemeClr val="dk1"/>
                </a:solidFill>
                <a:latin typeface="Georgia"/>
                <a:ea typeface="Georgia"/>
                <a:cs typeface="Georgia"/>
                <a:sym typeface="Georgia"/>
              </a:rPr>
              <a:t> I added </a:t>
            </a:r>
            <a:r>
              <a:rPr lang="en-US" sz="1050">
                <a:solidFill>
                  <a:schemeClr val="dk1"/>
                </a:solidFill>
                <a:latin typeface="Courier New"/>
                <a:ea typeface="Courier New"/>
                <a:cs typeface="Courier New"/>
                <a:sym typeface="Courier New"/>
              </a:rPr>
              <a:t>folium.Circle</a:t>
            </a:r>
            <a:r>
              <a:rPr lang="en-US" sz="1200">
                <a:solidFill>
                  <a:schemeClr val="dk1"/>
                </a:solidFill>
                <a:latin typeface="Georgia"/>
                <a:ea typeface="Georgia"/>
                <a:cs typeface="Georgia"/>
                <a:sym typeface="Georgia"/>
              </a:rPr>
              <a:t> objects for each launch site, with a fixed radius and popup label showing the site name. The circles were used to make the launch locations easy to spot and to provide a consistent visual footprint for each site.</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Text-labeled markers:</a:t>
            </a:r>
            <a:r>
              <a:rPr lang="en-US" sz="1200">
                <a:solidFill>
                  <a:schemeClr val="dk1"/>
                </a:solidFill>
                <a:latin typeface="Georgia"/>
                <a:ea typeface="Georgia"/>
                <a:cs typeface="Georgia"/>
                <a:sym typeface="Georgia"/>
              </a:rPr>
              <a:t> I added </a:t>
            </a:r>
            <a:r>
              <a:rPr lang="en-US" sz="1050">
                <a:solidFill>
                  <a:schemeClr val="dk1"/>
                </a:solidFill>
                <a:latin typeface="Courier New"/>
                <a:ea typeface="Courier New"/>
                <a:cs typeface="Courier New"/>
                <a:sym typeface="Courier New"/>
              </a:rPr>
              <a:t>folium.Marker</a:t>
            </a:r>
            <a:r>
              <a:rPr lang="en-US" sz="1200">
                <a:solidFill>
                  <a:schemeClr val="dk1"/>
                </a:solidFill>
                <a:latin typeface="Georgia"/>
                <a:ea typeface="Georgia"/>
                <a:cs typeface="Georgia"/>
                <a:sym typeface="Georgia"/>
              </a:rPr>
              <a:t> objects using </a:t>
            </a:r>
            <a:r>
              <a:rPr lang="en-US" sz="1050">
                <a:solidFill>
                  <a:schemeClr val="dk1"/>
                </a:solidFill>
                <a:latin typeface="Courier New"/>
                <a:ea typeface="Courier New"/>
                <a:cs typeface="Courier New"/>
                <a:sym typeface="Courier New"/>
              </a:rPr>
              <a:t>DivIcon</a:t>
            </a:r>
            <a:r>
              <a:rPr lang="en-US" sz="1200">
                <a:solidFill>
                  <a:schemeClr val="dk1"/>
                </a:solidFill>
                <a:latin typeface="Georgia"/>
                <a:ea typeface="Georgia"/>
                <a:cs typeface="Georgia"/>
                <a:sym typeface="Georgia"/>
              </a:rPr>
              <a:t> text labels such as </a:t>
            </a:r>
            <a:r>
              <a:rPr lang="en-US" sz="1050">
                <a:solidFill>
                  <a:schemeClr val="dk1"/>
                </a:solidFill>
                <a:latin typeface="Courier New"/>
                <a:ea typeface="Courier New"/>
                <a:cs typeface="Courier New"/>
                <a:sym typeface="Courier New"/>
              </a:rPr>
              <a:t>NASA JSC</a:t>
            </a:r>
            <a:r>
              <a:rPr lang="en-US" sz="1200">
                <a:solidFill>
                  <a:schemeClr val="dk1"/>
                </a:solidFill>
                <a:latin typeface="Georgia"/>
                <a:ea typeface="Georgia"/>
                <a:cs typeface="Georgia"/>
                <a:sym typeface="Georgia"/>
              </a:rPr>
              <a:t>, </a:t>
            </a:r>
            <a:r>
              <a:rPr lang="en-US" sz="1050">
                <a:solidFill>
                  <a:schemeClr val="dk1"/>
                </a:solidFill>
                <a:latin typeface="Courier New"/>
                <a:ea typeface="Courier New"/>
                <a:cs typeface="Courier New"/>
                <a:sym typeface="Courier New"/>
              </a:rPr>
              <a:t>CCAFS LC-40</a:t>
            </a:r>
            <a:r>
              <a:rPr lang="en-US" sz="1200">
                <a:solidFill>
                  <a:schemeClr val="dk1"/>
                </a:solidFill>
                <a:latin typeface="Georgia"/>
                <a:ea typeface="Georgia"/>
                <a:cs typeface="Georgia"/>
                <a:sym typeface="Georgia"/>
              </a:rPr>
              <a:t>, </a:t>
            </a:r>
            <a:r>
              <a:rPr lang="en-US" sz="1050">
                <a:solidFill>
                  <a:schemeClr val="dk1"/>
                </a:solidFill>
                <a:latin typeface="Courier New"/>
                <a:ea typeface="Courier New"/>
                <a:cs typeface="Courier New"/>
                <a:sym typeface="Courier New"/>
              </a:rPr>
              <a:t>CCAFS SLC-40</a:t>
            </a:r>
            <a:r>
              <a:rPr lang="en-US" sz="1200">
                <a:solidFill>
                  <a:schemeClr val="dk1"/>
                </a:solidFill>
                <a:latin typeface="Georgia"/>
                <a:ea typeface="Georgia"/>
                <a:cs typeface="Georgia"/>
                <a:sym typeface="Georgia"/>
              </a:rPr>
              <a:t>, </a:t>
            </a:r>
            <a:r>
              <a:rPr lang="en-US" sz="1050">
                <a:solidFill>
                  <a:schemeClr val="dk1"/>
                </a:solidFill>
                <a:latin typeface="Courier New"/>
                <a:ea typeface="Courier New"/>
                <a:cs typeface="Courier New"/>
                <a:sym typeface="Courier New"/>
              </a:rPr>
              <a:t>KSC LC-39A</a:t>
            </a:r>
            <a:r>
              <a:rPr lang="en-US" sz="1200">
                <a:solidFill>
                  <a:schemeClr val="dk1"/>
                </a:solidFill>
                <a:latin typeface="Georgia"/>
                <a:ea typeface="Georgia"/>
                <a:cs typeface="Georgia"/>
                <a:sym typeface="Georgia"/>
              </a:rPr>
              <a:t>, and </a:t>
            </a:r>
            <a:r>
              <a:rPr lang="en-US" sz="1050">
                <a:solidFill>
                  <a:schemeClr val="dk1"/>
                </a:solidFill>
                <a:latin typeface="Courier New"/>
                <a:ea typeface="Courier New"/>
                <a:cs typeface="Courier New"/>
                <a:sym typeface="Courier New"/>
              </a:rPr>
              <a:t>VAFB SLC-4E</a:t>
            </a:r>
            <a:r>
              <a:rPr lang="en-US" sz="1200">
                <a:solidFill>
                  <a:schemeClr val="dk1"/>
                </a:solidFill>
                <a:latin typeface="Georgia"/>
                <a:ea typeface="Georgia"/>
                <a:cs typeface="Georgia"/>
                <a:sym typeface="Georgia"/>
              </a:rPr>
              <a:t>. These labels made the map readable at a glance without needing to click each point.</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Success/failure markers:</a:t>
            </a:r>
            <a:r>
              <a:rPr lang="en-US" sz="1200">
                <a:solidFill>
                  <a:schemeClr val="dk1"/>
                </a:solidFill>
                <a:latin typeface="Georgia"/>
                <a:ea typeface="Georgia"/>
                <a:cs typeface="Georgia"/>
                <a:sym typeface="Georgia"/>
              </a:rPr>
              <a:t> I added color-coded </a:t>
            </a:r>
            <a:r>
              <a:rPr lang="en-US" sz="1050">
                <a:solidFill>
                  <a:schemeClr val="dk1"/>
                </a:solidFill>
                <a:latin typeface="Courier New"/>
                <a:ea typeface="Courier New"/>
                <a:cs typeface="Courier New"/>
                <a:sym typeface="Courier New"/>
              </a:rPr>
              <a:t>folium.Marker</a:t>
            </a:r>
            <a:r>
              <a:rPr lang="en-US" sz="1200">
                <a:solidFill>
                  <a:schemeClr val="dk1"/>
                </a:solidFill>
                <a:latin typeface="Georgia"/>
                <a:ea typeface="Georgia"/>
                <a:cs typeface="Georgia"/>
                <a:sym typeface="Georgia"/>
              </a:rPr>
              <a:t> objects for launch records, with green for success and red for failure. This was done so the launch outcome could be recognized immediately from the marker color.</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Marker clusters:</a:t>
            </a:r>
            <a:r>
              <a:rPr lang="en-US" sz="1200">
                <a:solidFill>
                  <a:schemeClr val="dk1"/>
                </a:solidFill>
                <a:latin typeface="Georgia"/>
                <a:ea typeface="Georgia"/>
                <a:cs typeface="Georgia"/>
                <a:sym typeface="Georgia"/>
              </a:rPr>
              <a:t> I used </a:t>
            </a:r>
            <a:r>
              <a:rPr lang="en-US" sz="1050">
                <a:solidFill>
                  <a:schemeClr val="dk1"/>
                </a:solidFill>
                <a:latin typeface="Courier New"/>
                <a:ea typeface="Courier New"/>
                <a:cs typeface="Courier New"/>
                <a:sym typeface="Courier New"/>
              </a:rPr>
              <a:t>folium.plugins.MarkerCluster</a:t>
            </a:r>
            <a:r>
              <a:rPr lang="en-US" sz="1200">
                <a:solidFill>
                  <a:schemeClr val="dk1"/>
                </a:solidFill>
                <a:latin typeface="Georgia"/>
                <a:ea typeface="Georgia"/>
                <a:cs typeface="Georgia"/>
                <a:sym typeface="Georgia"/>
              </a:rPr>
              <a:t> to group many nearby success/failure points. Clustering keeps the map usable when there are many launches in the same area and prevents visual overlap.</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Mouse position control:</a:t>
            </a:r>
            <a:r>
              <a:rPr lang="en-US" sz="1200">
                <a:solidFill>
                  <a:schemeClr val="dk1"/>
                </a:solidFill>
                <a:latin typeface="Georgia"/>
                <a:ea typeface="Georgia"/>
                <a:cs typeface="Georgia"/>
                <a:sym typeface="Georgia"/>
              </a:rPr>
              <a:t> I added </a:t>
            </a:r>
            <a:r>
              <a:rPr lang="en-US" sz="1050">
                <a:solidFill>
                  <a:schemeClr val="dk1"/>
                </a:solidFill>
                <a:latin typeface="Courier New"/>
                <a:ea typeface="Courier New"/>
                <a:cs typeface="Courier New"/>
                <a:sym typeface="Courier New"/>
              </a:rPr>
              <a:t>folium.plugins.MousePosition</a:t>
            </a:r>
            <a:r>
              <a:rPr lang="en-US" sz="1200">
                <a:solidFill>
                  <a:schemeClr val="dk1"/>
                </a:solidFill>
                <a:latin typeface="Georgia"/>
                <a:ea typeface="Georgia"/>
                <a:cs typeface="Georgia"/>
                <a:sym typeface="Georgia"/>
              </a:rPr>
              <a:t> so coordinates appear while moving the cursor over the map. This helped me identify exact points of interest such as coastline, railway, highway, or city locations.</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Distance lines:</a:t>
            </a:r>
            <a:r>
              <a:rPr lang="en-US" sz="1200">
                <a:solidFill>
                  <a:schemeClr val="dk1"/>
                </a:solidFill>
                <a:latin typeface="Georgia"/>
                <a:ea typeface="Georgia"/>
                <a:cs typeface="Georgia"/>
                <a:sym typeface="Georgia"/>
              </a:rPr>
              <a:t> I created </a:t>
            </a:r>
            <a:r>
              <a:rPr lang="en-US" sz="1050">
                <a:solidFill>
                  <a:schemeClr val="dk1"/>
                </a:solidFill>
                <a:latin typeface="Courier New"/>
                <a:ea typeface="Courier New"/>
                <a:cs typeface="Courier New"/>
                <a:sym typeface="Courier New"/>
              </a:rPr>
              <a:t>folium.PolyLine</a:t>
            </a:r>
            <a:r>
              <a:rPr lang="en-US" sz="1200">
                <a:solidFill>
                  <a:schemeClr val="dk1"/>
                </a:solidFill>
                <a:latin typeface="Georgia"/>
                <a:ea typeface="Georgia"/>
                <a:cs typeface="Georgia"/>
                <a:sym typeface="Georgia"/>
              </a:rPr>
              <a:t> objects from each launch site to a nearby proximity point, such as coastline or another landmark. The lines were added to visualize distance relationships directly on the map instead of only listing numeric values.</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Distance labels:</a:t>
            </a:r>
            <a:r>
              <a:rPr lang="en-US" sz="1200">
                <a:solidFill>
                  <a:schemeClr val="dk1"/>
                </a:solidFill>
                <a:latin typeface="Georgia"/>
                <a:ea typeface="Georgia"/>
                <a:cs typeface="Georgia"/>
                <a:sym typeface="Georgia"/>
              </a:rPr>
              <a:t> I used a marker with a </a:t>
            </a:r>
            <a:r>
              <a:rPr lang="en-US" sz="1050">
                <a:solidFill>
                  <a:schemeClr val="dk1"/>
                </a:solidFill>
                <a:latin typeface="Courier New"/>
                <a:ea typeface="Courier New"/>
                <a:cs typeface="Courier New"/>
                <a:sym typeface="Courier New"/>
              </a:rPr>
              <a:t>DivIcon</a:t>
            </a:r>
            <a:r>
              <a:rPr lang="en-US" sz="1200">
                <a:solidFill>
                  <a:schemeClr val="dk1"/>
                </a:solidFill>
                <a:latin typeface="Georgia"/>
                <a:ea typeface="Georgia"/>
                <a:cs typeface="Georgia"/>
                <a:sym typeface="Georgia"/>
              </a:rPr>
              <a:t> to display the computed distance, such as a distance in km. This made the map self-explanatory by tying the line to a numeric distance value.</a:t>
            </a:r>
            <a:endParaRPr sz="1200">
              <a:solidFill>
                <a:schemeClr val="dk1"/>
              </a:solidFill>
              <a:latin typeface="Georgia"/>
              <a:ea typeface="Georgia"/>
              <a:cs typeface="Georgia"/>
              <a:sym typeface="Georgia"/>
            </a:endParaRPr>
          </a:p>
          <a:p>
            <a:pPr indent="0" lvl="0" marL="457200" rtl="0" algn="l">
              <a:lnSpc>
                <a:spcPct val="115000"/>
              </a:lnSpc>
              <a:spcBef>
                <a:spcPts val="0"/>
              </a:spcBef>
              <a:spcAft>
                <a:spcPts val="0"/>
              </a:spcAft>
              <a:buNone/>
            </a:pPr>
            <a:r>
              <a:t/>
            </a:r>
            <a:endParaRPr sz="1200">
              <a:solidFill>
                <a:schemeClr val="dk1"/>
              </a:solidFill>
              <a:latin typeface="Georgia"/>
              <a:ea typeface="Georgia"/>
              <a:cs typeface="Georgia"/>
              <a:sym typeface="Georgia"/>
            </a:endParaRPr>
          </a:p>
          <a:p>
            <a:pPr indent="0" lvl="0" marL="0" rtl="0" algn="l">
              <a:lnSpc>
                <a:spcPct val="125000"/>
              </a:lnSpc>
              <a:spcBef>
                <a:spcPts val="0"/>
              </a:spcBef>
              <a:spcAft>
                <a:spcPts val="0"/>
              </a:spcAft>
              <a:buClr>
                <a:schemeClr val="dk1"/>
              </a:buClr>
              <a:buSzPct val="61111"/>
              <a:buFont typeface="Arial"/>
              <a:buNone/>
            </a:pPr>
            <a:r>
              <a:rPr b="1" lang="en-US" sz="1800">
                <a:solidFill>
                  <a:schemeClr val="dk1"/>
                </a:solidFill>
                <a:latin typeface="Georgia"/>
                <a:ea typeface="Georgia"/>
                <a:cs typeface="Georgia"/>
                <a:sym typeface="Georgia"/>
              </a:rPr>
              <a:t>Why these objects</a:t>
            </a:r>
            <a:endParaRPr b="1" sz="18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Circles and labels were used for </a:t>
            </a:r>
            <a:r>
              <a:rPr b="1" lang="en-US" sz="1200">
                <a:solidFill>
                  <a:schemeClr val="dk1"/>
                </a:solidFill>
                <a:latin typeface="Georgia"/>
                <a:ea typeface="Georgia"/>
                <a:cs typeface="Georgia"/>
                <a:sym typeface="Georgia"/>
              </a:rPr>
              <a:t>site identification</a:t>
            </a:r>
            <a:r>
              <a:rPr lang="en-US" sz="1200">
                <a:solidFill>
                  <a:schemeClr val="dk1"/>
                </a:solidFill>
                <a:latin typeface="Georgia"/>
                <a:ea typeface="Georgia"/>
                <a:cs typeface="Georgia"/>
                <a:sym typeface="Georgia"/>
              </a:rPr>
              <a:t> and to make launch locations easy to compare spatially.</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Colored markers were used for </a:t>
            </a:r>
            <a:r>
              <a:rPr b="1" lang="en-US" sz="1200">
                <a:solidFill>
                  <a:schemeClr val="dk1"/>
                </a:solidFill>
                <a:latin typeface="Georgia"/>
                <a:ea typeface="Georgia"/>
                <a:cs typeface="Georgia"/>
                <a:sym typeface="Georgia"/>
              </a:rPr>
              <a:t>success classification</a:t>
            </a:r>
            <a:r>
              <a:rPr lang="en-US" sz="1200">
                <a:solidFill>
                  <a:schemeClr val="dk1"/>
                </a:solidFill>
                <a:latin typeface="Georgia"/>
                <a:ea typeface="Georgia"/>
                <a:cs typeface="Georgia"/>
                <a:sym typeface="Georgia"/>
              </a:rPr>
              <a:t> so launch outcomes could be interpreted visually.</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Clusters were used for </a:t>
            </a:r>
            <a:r>
              <a:rPr b="1" lang="en-US" sz="1200">
                <a:solidFill>
                  <a:schemeClr val="dk1"/>
                </a:solidFill>
                <a:latin typeface="Georgia"/>
                <a:ea typeface="Georgia"/>
                <a:cs typeface="Georgia"/>
                <a:sym typeface="Georgia"/>
              </a:rPr>
              <a:t>density handling</a:t>
            </a:r>
            <a:r>
              <a:rPr lang="en-US" sz="1200">
                <a:solidFill>
                  <a:schemeClr val="dk1"/>
                </a:solidFill>
                <a:latin typeface="Georgia"/>
                <a:ea typeface="Georgia"/>
                <a:cs typeface="Georgia"/>
                <a:sym typeface="Georgia"/>
              </a:rPr>
              <a:t> when many launches occupied the same region.</a:t>
            </a:r>
            <a:endParaRPr sz="1200">
              <a:solidFill>
                <a:schemeClr val="dk1"/>
              </a:solidFill>
              <a:latin typeface="Georgia"/>
              <a:ea typeface="Georgia"/>
              <a:cs typeface="Georgia"/>
              <a:sym typeface="Georgia"/>
            </a:endParaRPr>
          </a:p>
          <a:p>
            <a:pPr indent="-293370" lvl="0" marL="4572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Mouse position and distance lines were used for </a:t>
            </a:r>
            <a:r>
              <a:rPr b="1" lang="en-US" sz="1200">
                <a:solidFill>
                  <a:schemeClr val="dk1"/>
                </a:solidFill>
                <a:latin typeface="Georgia"/>
                <a:ea typeface="Georgia"/>
                <a:cs typeface="Georgia"/>
                <a:sym typeface="Georgia"/>
              </a:rPr>
              <a:t>proximity analysis</a:t>
            </a:r>
            <a:r>
              <a:rPr lang="en-US" sz="1200">
                <a:solidFill>
                  <a:schemeClr val="dk1"/>
                </a:solidFill>
                <a:latin typeface="Georgia"/>
                <a:ea typeface="Georgia"/>
                <a:cs typeface="Georgia"/>
                <a:sym typeface="Georgia"/>
              </a:rPr>
              <a:t> to explore how close launch sites are to coastlines, highways, railways, or cities.</a:t>
            </a:r>
            <a:endParaRPr sz="1200">
              <a:solidFill>
                <a:schemeClr val="dk1"/>
              </a:solidFill>
              <a:latin typeface="Georgia"/>
              <a:ea typeface="Georgia"/>
              <a:cs typeface="Georgia"/>
              <a:sym typeface="Georgia"/>
            </a:endParaRPr>
          </a:p>
          <a:p>
            <a:pPr indent="0" lvl="0" marL="0" rtl="0" algn="l">
              <a:lnSpc>
                <a:spcPct val="115000"/>
              </a:lnSpc>
              <a:spcBef>
                <a:spcPts val="0"/>
              </a:spcBef>
              <a:spcAft>
                <a:spcPts val="0"/>
              </a:spcAft>
              <a:buClr>
                <a:schemeClr val="dk1"/>
              </a:buClr>
              <a:buSzPct val="100000"/>
              <a:buFont typeface="Arial"/>
              <a:buNone/>
            </a:pPr>
            <a:r>
              <a:t/>
            </a:r>
            <a:endParaRPr sz="1100">
              <a:solidFill>
                <a:schemeClr val="dk1"/>
              </a:solidFill>
            </a:endParaRPr>
          </a:p>
          <a:p>
            <a:pPr indent="0" lvl="0" marL="0" marR="0" rtl="0" algn="l">
              <a:lnSpc>
                <a:spcPct val="100000"/>
              </a:lnSpc>
              <a:spcBef>
                <a:spcPts val="1400"/>
              </a:spcBef>
              <a:spcAft>
                <a:spcPts val="0"/>
              </a:spcAft>
              <a:buNone/>
            </a:pPr>
            <a:r>
              <a:t/>
            </a:r>
            <a:endParaRPr sz="2200">
              <a:solidFill>
                <a:srgbClr val="292929"/>
              </a:solidFill>
            </a:endParaRPr>
          </a:p>
          <a:p>
            <a:pPr indent="-50800" lvl="0" marL="228600" marR="0" rtl="0" algn="l">
              <a:lnSpc>
                <a:spcPct val="90000"/>
              </a:lnSpc>
              <a:spcBef>
                <a:spcPts val="1000"/>
              </a:spcBef>
              <a:spcAft>
                <a:spcPts val="0"/>
              </a:spcAft>
              <a:buClr>
                <a:schemeClr val="dk1"/>
              </a:buClr>
              <a:buSzPct val="243478"/>
              <a:buFont typeface="Arial"/>
              <a:buNone/>
            </a:pPr>
            <a:r>
              <a:rPr lang="en-US" sz="1150">
                <a:solidFill>
                  <a:srgbClr val="292929"/>
                </a:solidFill>
              </a:rPr>
              <a:t>Git Hub URL:https://github.com/gnembac/IBM_Datascience_Capstone_PRJ/blob/5dfcd4ff9156e9b0c30787707afdd3cd3507c631/lab_jupyter_launch_site_location.ipynb</a:t>
            </a:r>
            <a:endParaRPr sz="1150">
              <a:solidFill>
                <a:schemeClr val="dk1"/>
              </a:solidFill>
              <a:latin typeface="Calibri"/>
              <a:ea typeface="Calibri"/>
              <a:cs typeface="Calibri"/>
              <a:sym typeface="Calibri"/>
            </a:endParaRPr>
          </a:p>
        </p:txBody>
      </p:sp>
      <p:sp>
        <p:nvSpPr>
          <p:cNvPr id="191" name="Google Shape;191;p13"/>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Build an Interactive Map with Folium</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sp>
        <p:nvSpPr>
          <p:cNvPr id="196" name="Google Shape;196;p14"/>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7" name="Google Shape;197;p14"/>
          <p:cNvSpPr txBox="1"/>
          <p:nvPr>
            <p:ph idx="1" type="body"/>
          </p:nvPr>
        </p:nvSpPr>
        <p:spPr>
          <a:xfrm>
            <a:off x="770000" y="1825625"/>
            <a:ext cx="10167900" cy="4351200"/>
          </a:xfrm>
          <a:prstGeom prst="rect">
            <a:avLst/>
          </a:prstGeom>
          <a:noFill/>
          <a:ln>
            <a:noFill/>
          </a:ln>
        </p:spPr>
        <p:txBody>
          <a:bodyPr anchorCtr="0" anchor="t" bIns="45700" lIns="91425" spcFirstLastPara="1" rIns="91425" wrap="square" tIns="45700">
            <a:normAutofit fontScale="62500" lnSpcReduction="10000"/>
          </a:bodyPr>
          <a:lstStyle/>
          <a:p>
            <a:pPr indent="-289000" lvl="0" marL="457200" rtl="0" algn="l">
              <a:lnSpc>
                <a:spcPct val="115000"/>
              </a:lnSpc>
              <a:spcBef>
                <a:spcPts val="0"/>
              </a:spcBef>
              <a:spcAft>
                <a:spcPts val="0"/>
              </a:spcAft>
              <a:buClr>
                <a:schemeClr val="dk1"/>
              </a:buClr>
              <a:buSzPct val="100000"/>
              <a:buFont typeface="Georgia"/>
              <a:buChar char="●"/>
            </a:pPr>
            <a:r>
              <a:rPr b="1" lang="en-US" sz="1522">
                <a:solidFill>
                  <a:schemeClr val="dk1"/>
                </a:solidFill>
                <a:latin typeface="Georgia"/>
                <a:ea typeface="Georgia"/>
                <a:cs typeface="Georgia"/>
                <a:sym typeface="Georgia"/>
              </a:rPr>
              <a:t>Pie chart for launch success by site:</a:t>
            </a:r>
            <a:r>
              <a:rPr lang="en-US" sz="1522">
                <a:solidFill>
                  <a:schemeClr val="dk1"/>
                </a:solidFill>
                <a:latin typeface="Georgia"/>
                <a:ea typeface="Georgia"/>
                <a:cs typeface="Georgia"/>
                <a:sym typeface="Georgia"/>
              </a:rPr>
              <a:t> I added a pie chart that shows the distribution of successful launches across all launch sites when “All Sites” is selected. This gives a quick high-level view of which sites contributed most to successful missions.</a:t>
            </a:r>
            <a:endParaRPr sz="1522">
              <a:solidFill>
                <a:schemeClr val="dk1"/>
              </a:solidFill>
              <a:latin typeface="Georgia"/>
              <a:ea typeface="Georgia"/>
              <a:cs typeface="Georgia"/>
              <a:sym typeface="Georgia"/>
            </a:endParaRPr>
          </a:p>
          <a:p>
            <a:pPr indent="-289000" lvl="0" marL="457200" rtl="0" algn="l">
              <a:lnSpc>
                <a:spcPct val="115000"/>
              </a:lnSpc>
              <a:spcBef>
                <a:spcPts val="0"/>
              </a:spcBef>
              <a:spcAft>
                <a:spcPts val="0"/>
              </a:spcAft>
              <a:buClr>
                <a:schemeClr val="dk1"/>
              </a:buClr>
              <a:buSzPct val="100000"/>
              <a:buFont typeface="Georgia"/>
              <a:buChar char="●"/>
            </a:pPr>
            <a:r>
              <a:rPr b="1" lang="en-US" sz="1522">
                <a:solidFill>
                  <a:schemeClr val="dk1"/>
                </a:solidFill>
                <a:latin typeface="Georgia"/>
                <a:ea typeface="Georgia"/>
                <a:cs typeface="Georgia"/>
                <a:sym typeface="Georgia"/>
              </a:rPr>
              <a:t>Pie chart for success vs. failure at one site:</a:t>
            </a:r>
            <a:r>
              <a:rPr lang="en-US" sz="1522">
                <a:solidFill>
                  <a:schemeClr val="dk1"/>
                </a:solidFill>
                <a:latin typeface="Georgia"/>
                <a:ea typeface="Georgia"/>
                <a:cs typeface="Georgia"/>
                <a:sym typeface="Georgia"/>
              </a:rPr>
              <a:t> When a specific launch site is selected, the pie chart switches to a success/failure split for that site. I added this because it makes site-level performance easier to compare than using raw counts alone.</a:t>
            </a:r>
            <a:endParaRPr sz="1522">
              <a:solidFill>
                <a:schemeClr val="dk1"/>
              </a:solidFill>
              <a:latin typeface="Georgia"/>
              <a:ea typeface="Georgia"/>
              <a:cs typeface="Georgia"/>
              <a:sym typeface="Georgia"/>
            </a:endParaRPr>
          </a:p>
          <a:p>
            <a:pPr indent="-289000" lvl="0" marL="457200" rtl="0" algn="l">
              <a:lnSpc>
                <a:spcPct val="115000"/>
              </a:lnSpc>
              <a:spcBef>
                <a:spcPts val="0"/>
              </a:spcBef>
              <a:spcAft>
                <a:spcPts val="0"/>
              </a:spcAft>
              <a:buClr>
                <a:schemeClr val="dk1"/>
              </a:buClr>
              <a:buSzPct val="100000"/>
              <a:buFont typeface="Georgia"/>
              <a:buChar char="●"/>
            </a:pPr>
            <a:r>
              <a:rPr b="1" lang="en-US" sz="1522">
                <a:solidFill>
                  <a:schemeClr val="dk1"/>
                </a:solidFill>
                <a:latin typeface="Georgia"/>
                <a:ea typeface="Georgia"/>
                <a:cs typeface="Georgia"/>
                <a:sym typeface="Georgia"/>
              </a:rPr>
              <a:t>Scatter chart for payload vs. outcome:</a:t>
            </a:r>
            <a:r>
              <a:rPr lang="en-US" sz="1522">
                <a:solidFill>
                  <a:schemeClr val="dk1"/>
                </a:solidFill>
                <a:latin typeface="Georgia"/>
                <a:ea typeface="Georgia"/>
                <a:cs typeface="Georgia"/>
                <a:sym typeface="Georgia"/>
              </a:rPr>
              <a:t> I added a scatter plot with payload mass on the x-axis and launch outcome on the y-axis. This was included to check whether payload size appears related to launch success or failure.</a:t>
            </a:r>
            <a:endParaRPr sz="1522">
              <a:solidFill>
                <a:schemeClr val="dk1"/>
              </a:solidFill>
              <a:latin typeface="Georgia"/>
              <a:ea typeface="Georgia"/>
              <a:cs typeface="Georgia"/>
              <a:sym typeface="Georgia"/>
            </a:endParaRPr>
          </a:p>
          <a:p>
            <a:pPr indent="-289000" lvl="0" marL="457200" rtl="0" algn="l">
              <a:lnSpc>
                <a:spcPct val="115000"/>
              </a:lnSpc>
              <a:spcBef>
                <a:spcPts val="0"/>
              </a:spcBef>
              <a:spcAft>
                <a:spcPts val="0"/>
              </a:spcAft>
              <a:buClr>
                <a:schemeClr val="dk1"/>
              </a:buClr>
              <a:buSzPct val="100000"/>
              <a:buFont typeface="Georgia"/>
              <a:buChar char="●"/>
            </a:pPr>
            <a:r>
              <a:rPr b="1" lang="en-US" sz="1522">
                <a:solidFill>
                  <a:schemeClr val="dk1"/>
                </a:solidFill>
                <a:latin typeface="Georgia"/>
                <a:ea typeface="Georgia"/>
                <a:cs typeface="Georgia"/>
                <a:sym typeface="Georgia"/>
              </a:rPr>
              <a:t>Color grouping by booster category:</a:t>
            </a:r>
            <a:r>
              <a:rPr lang="en-US" sz="1522">
                <a:solidFill>
                  <a:schemeClr val="dk1"/>
                </a:solidFill>
                <a:latin typeface="Georgia"/>
                <a:ea typeface="Georgia"/>
                <a:cs typeface="Georgia"/>
                <a:sym typeface="Georgia"/>
              </a:rPr>
              <a:t> The scatter plot colors points by booster version category. I used this to make it easier to see whether different booster generations behave differently across payload ranges.</a:t>
            </a:r>
            <a:endParaRPr sz="1522">
              <a:solidFill>
                <a:schemeClr val="dk1"/>
              </a:solidFill>
              <a:latin typeface="Georgia"/>
              <a:ea typeface="Georgia"/>
              <a:cs typeface="Georgia"/>
              <a:sym typeface="Georgia"/>
            </a:endParaRPr>
          </a:p>
          <a:p>
            <a:pPr indent="0" lvl="0" marL="0" rtl="0" algn="l">
              <a:lnSpc>
                <a:spcPct val="125000"/>
              </a:lnSpc>
              <a:spcBef>
                <a:spcPts val="1800"/>
              </a:spcBef>
              <a:spcAft>
                <a:spcPts val="0"/>
              </a:spcAft>
              <a:buClr>
                <a:schemeClr val="dk1"/>
              </a:buClr>
              <a:buSzPct val="72279"/>
              <a:buFont typeface="Arial"/>
              <a:buNone/>
            </a:pPr>
            <a:r>
              <a:rPr b="1" lang="en-US" sz="1522">
                <a:solidFill>
                  <a:schemeClr val="dk1"/>
                </a:solidFill>
              </a:rPr>
              <a:t>Interactions</a:t>
            </a:r>
            <a:endParaRPr b="1" sz="1522">
              <a:solidFill>
                <a:schemeClr val="dk1"/>
              </a:solidFill>
            </a:endParaRPr>
          </a:p>
          <a:p>
            <a:pPr indent="-289000" lvl="0" marL="457200" rtl="0" algn="l">
              <a:lnSpc>
                <a:spcPct val="115000"/>
              </a:lnSpc>
              <a:spcBef>
                <a:spcPts val="400"/>
              </a:spcBef>
              <a:spcAft>
                <a:spcPts val="0"/>
              </a:spcAft>
              <a:buClr>
                <a:schemeClr val="dk1"/>
              </a:buClr>
              <a:buSzPct val="100000"/>
              <a:buFont typeface="Georgia"/>
              <a:buChar char="●"/>
            </a:pPr>
            <a:r>
              <a:rPr b="1" lang="en-US" sz="1522">
                <a:solidFill>
                  <a:schemeClr val="dk1"/>
                </a:solidFill>
                <a:latin typeface="Georgia"/>
                <a:ea typeface="Georgia"/>
                <a:cs typeface="Georgia"/>
                <a:sym typeface="Georgia"/>
              </a:rPr>
              <a:t>Launch site dropdown:</a:t>
            </a:r>
            <a:r>
              <a:rPr lang="en-US" sz="1522">
                <a:solidFill>
                  <a:schemeClr val="dk1"/>
                </a:solidFill>
                <a:latin typeface="Georgia"/>
                <a:ea typeface="Georgia"/>
                <a:cs typeface="Georgia"/>
                <a:sym typeface="Georgia"/>
              </a:rPr>
              <a:t> I added a dropdown that lets the user switch between “All Sites” and individual launch sites. This interaction makes the dashboard exploratory rather than static.</a:t>
            </a:r>
            <a:endParaRPr sz="1522">
              <a:solidFill>
                <a:schemeClr val="dk1"/>
              </a:solidFill>
              <a:latin typeface="Georgia"/>
              <a:ea typeface="Georgia"/>
              <a:cs typeface="Georgia"/>
              <a:sym typeface="Georgia"/>
            </a:endParaRPr>
          </a:p>
          <a:p>
            <a:pPr indent="-289000" lvl="0" marL="457200" rtl="0" algn="l">
              <a:lnSpc>
                <a:spcPct val="115000"/>
              </a:lnSpc>
              <a:spcBef>
                <a:spcPts val="0"/>
              </a:spcBef>
              <a:spcAft>
                <a:spcPts val="0"/>
              </a:spcAft>
              <a:buClr>
                <a:schemeClr val="dk1"/>
              </a:buClr>
              <a:buSzPct val="100000"/>
              <a:buFont typeface="Georgia"/>
              <a:buChar char="●"/>
            </a:pPr>
            <a:r>
              <a:rPr b="1" lang="en-US" sz="1522">
                <a:solidFill>
                  <a:schemeClr val="dk1"/>
                </a:solidFill>
                <a:latin typeface="Georgia"/>
                <a:ea typeface="Georgia"/>
                <a:cs typeface="Georgia"/>
                <a:sym typeface="Georgia"/>
              </a:rPr>
              <a:t>Payload range slider:</a:t>
            </a:r>
            <a:r>
              <a:rPr lang="en-US" sz="1522">
                <a:solidFill>
                  <a:schemeClr val="dk1"/>
                </a:solidFill>
                <a:latin typeface="Georgia"/>
                <a:ea typeface="Georgia"/>
                <a:cs typeface="Georgia"/>
                <a:sym typeface="Georgia"/>
              </a:rPr>
              <a:t> I added a range slider to filter launches by payload mass. This helps users focus on a specific payload interval and see whether success patterns change with weight.</a:t>
            </a:r>
            <a:endParaRPr sz="1522">
              <a:solidFill>
                <a:schemeClr val="dk1"/>
              </a:solidFill>
              <a:latin typeface="Georgia"/>
              <a:ea typeface="Georgia"/>
              <a:cs typeface="Georgia"/>
              <a:sym typeface="Georgia"/>
            </a:endParaRPr>
          </a:p>
          <a:p>
            <a:pPr indent="-289000" lvl="0" marL="457200" rtl="0" algn="l">
              <a:lnSpc>
                <a:spcPct val="115000"/>
              </a:lnSpc>
              <a:spcBef>
                <a:spcPts val="0"/>
              </a:spcBef>
              <a:spcAft>
                <a:spcPts val="0"/>
              </a:spcAft>
              <a:buClr>
                <a:schemeClr val="dk1"/>
              </a:buClr>
              <a:buSzPct val="100000"/>
              <a:buFont typeface="Georgia"/>
              <a:buChar char="●"/>
            </a:pPr>
            <a:r>
              <a:rPr b="1" lang="en-US" sz="1522">
                <a:solidFill>
                  <a:schemeClr val="dk1"/>
                </a:solidFill>
                <a:latin typeface="Georgia"/>
                <a:ea typeface="Georgia"/>
                <a:cs typeface="Georgia"/>
                <a:sym typeface="Georgia"/>
              </a:rPr>
              <a:t>Dynamic callbacks:</a:t>
            </a:r>
            <a:r>
              <a:rPr lang="en-US" sz="1522">
                <a:solidFill>
                  <a:schemeClr val="dk1"/>
                </a:solidFill>
                <a:latin typeface="Georgia"/>
                <a:ea typeface="Georgia"/>
                <a:cs typeface="Georgia"/>
                <a:sym typeface="Georgia"/>
              </a:rPr>
              <a:t> Both charts update automatically when the dropdown or slider changes. I added callbacks so the dashboard responds instantly without reloading the page.</a:t>
            </a:r>
            <a:endParaRPr sz="1522">
              <a:solidFill>
                <a:schemeClr val="dk1"/>
              </a:solidFill>
              <a:latin typeface="Georgia"/>
              <a:ea typeface="Georgia"/>
              <a:cs typeface="Georgia"/>
              <a:sym typeface="Georgia"/>
            </a:endParaRPr>
          </a:p>
          <a:p>
            <a:pPr indent="-289000" lvl="0" marL="457200" rtl="0" algn="l">
              <a:lnSpc>
                <a:spcPct val="115000"/>
              </a:lnSpc>
              <a:spcBef>
                <a:spcPts val="0"/>
              </a:spcBef>
              <a:spcAft>
                <a:spcPts val="0"/>
              </a:spcAft>
              <a:buClr>
                <a:schemeClr val="dk1"/>
              </a:buClr>
              <a:buSzPct val="100000"/>
              <a:buFont typeface="Georgia"/>
              <a:buChar char="●"/>
            </a:pPr>
            <a:r>
              <a:rPr b="1" lang="en-US" sz="1522">
                <a:solidFill>
                  <a:schemeClr val="dk1"/>
                </a:solidFill>
                <a:latin typeface="Georgia"/>
                <a:ea typeface="Georgia"/>
                <a:cs typeface="Georgia"/>
                <a:sym typeface="Georgia"/>
              </a:rPr>
              <a:t>Hover information:</a:t>
            </a:r>
            <a:r>
              <a:rPr lang="en-US" sz="1522">
                <a:solidFill>
                  <a:schemeClr val="dk1"/>
                </a:solidFill>
                <a:latin typeface="Georgia"/>
                <a:ea typeface="Georgia"/>
                <a:cs typeface="Georgia"/>
                <a:sym typeface="Georgia"/>
              </a:rPr>
              <a:t> The scatter plot includes hover data such as launch site, payload mass, and outcome. I added this so users can inspect individual launches without cluttering the chart.</a:t>
            </a:r>
            <a:endParaRPr sz="1522">
              <a:solidFill>
                <a:schemeClr val="dk1"/>
              </a:solidFill>
              <a:latin typeface="Georgia"/>
              <a:ea typeface="Georgia"/>
              <a:cs typeface="Georgia"/>
              <a:sym typeface="Georgia"/>
            </a:endParaRPr>
          </a:p>
          <a:p>
            <a:pPr indent="0" lvl="0" marL="0" rtl="0" algn="l">
              <a:lnSpc>
                <a:spcPct val="125000"/>
              </a:lnSpc>
              <a:spcBef>
                <a:spcPts val="1800"/>
              </a:spcBef>
              <a:spcAft>
                <a:spcPts val="0"/>
              </a:spcAft>
              <a:buClr>
                <a:schemeClr val="dk1"/>
              </a:buClr>
              <a:buSzPct val="72279"/>
              <a:buFont typeface="Arial"/>
              <a:buNone/>
            </a:pPr>
            <a:r>
              <a:rPr b="1" lang="en-US" sz="1522">
                <a:solidFill>
                  <a:schemeClr val="dk1"/>
                </a:solidFill>
              </a:rPr>
              <a:t>Why these choices</a:t>
            </a:r>
            <a:endParaRPr b="1" sz="1522">
              <a:solidFill>
                <a:schemeClr val="dk1"/>
              </a:solidFill>
            </a:endParaRPr>
          </a:p>
          <a:p>
            <a:pPr indent="-289000" lvl="0" marL="457200" rtl="0" algn="l">
              <a:lnSpc>
                <a:spcPct val="115000"/>
              </a:lnSpc>
              <a:spcBef>
                <a:spcPts val="400"/>
              </a:spcBef>
              <a:spcAft>
                <a:spcPts val="0"/>
              </a:spcAft>
              <a:buClr>
                <a:schemeClr val="dk1"/>
              </a:buClr>
              <a:buSzPct val="100000"/>
              <a:buFont typeface="Georgia"/>
              <a:buChar char="●"/>
            </a:pPr>
            <a:r>
              <a:rPr lang="en-US" sz="1522">
                <a:solidFill>
                  <a:schemeClr val="dk1"/>
                </a:solidFill>
                <a:latin typeface="Georgia"/>
                <a:ea typeface="Georgia"/>
                <a:cs typeface="Georgia"/>
                <a:sym typeface="Georgia"/>
              </a:rPr>
              <a:t>The </a:t>
            </a:r>
            <a:r>
              <a:rPr b="1" lang="en-US" sz="1522">
                <a:solidFill>
                  <a:schemeClr val="dk1"/>
                </a:solidFill>
                <a:latin typeface="Georgia"/>
                <a:ea typeface="Georgia"/>
                <a:cs typeface="Georgia"/>
                <a:sym typeface="Georgia"/>
              </a:rPr>
              <a:t>pie charts</a:t>
            </a:r>
            <a:r>
              <a:rPr lang="en-US" sz="1522">
                <a:solidFill>
                  <a:schemeClr val="dk1"/>
                </a:solidFill>
                <a:latin typeface="Georgia"/>
                <a:ea typeface="Georgia"/>
                <a:cs typeface="Georgia"/>
                <a:sym typeface="Georgia"/>
              </a:rPr>
              <a:t> are best for categorical proportion questions, such as “how much success came from each site” or “what is the success/failure mix at one site.”</a:t>
            </a:r>
            <a:endParaRPr sz="1522">
              <a:solidFill>
                <a:schemeClr val="dk1"/>
              </a:solidFill>
              <a:latin typeface="Georgia"/>
              <a:ea typeface="Georgia"/>
              <a:cs typeface="Georgia"/>
              <a:sym typeface="Georgia"/>
            </a:endParaRPr>
          </a:p>
          <a:p>
            <a:pPr indent="-289000" lvl="0" marL="457200" rtl="0" algn="l">
              <a:lnSpc>
                <a:spcPct val="115000"/>
              </a:lnSpc>
              <a:spcBef>
                <a:spcPts val="0"/>
              </a:spcBef>
              <a:spcAft>
                <a:spcPts val="0"/>
              </a:spcAft>
              <a:buClr>
                <a:schemeClr val="dk1"/>
              </a:buClr>
              <a:buSzPct val="100000"/>
              <a:buFont typeface="Georgia"/>
              <a:buChar char="●"/>
            </a:pPr>
            <a:r>
              <a:rPr lang="en-US" sz="1522">
                <a:solidFill>
                  <a:schemeClr val="dk1"/>
                </a:solidFill>
                <a:latin typeface="Georgia"/>
                <a:ea typeface="Georgia"/>
                <a:cs typeface="Georgia"/>
                <a:sym typeface="Georgia"/>
              </a:rPr>
              <a:t>The </a:t>
            </a:r>
            <a:r>
              <a:rPr b="1" lang="en-US" sz="1522">
                <a:solidFill>
                  <a:schemeClr val="dk1"/>
                </a:solidFill>
                <a:latin typeface="Georgia"/>
                <a:ea typeface="Georgia"/>
                <a:cs typeface="Georgia"/>
                <a:sym typeface="Georgia"/>
              </a:rPr>
              <a:t>scatter plot</a:t>
            </a:r>
            <a:r>
              <a:rPr lang="en-US" sz="1522">
                <a:solidFill>
                  <a:schemeClr val="dk1"/>
                </a:solidFill>
                <a:latin typeface="Georgia"/>
                <a:ea typeface="Georgia"/>
                <a:cs typeface="Georgia"/>
                <a:sym typeface="Georgia"/>
              </a:rPr>
              <a:t> is best for seeing relationships between payload mass and mission outcome, especially when combined with booster category coloring.</a:t>
            </a:r>
            <a:endParaRPr sz="1522">
              <a:solidFill>
                <a:schemeClr val="dk1"/>
              </a:solidFill>
              <a:latin typeface="Georgia"/>
              <a:ea typeface="Georgia"/>
              <a:cs typeface="Georgia"/>
              <a:sym typeface="Georgia"/>
            </a:endParaRPr>
          </a:p>
          <a:p>
            <a:pPr indent="-289000" lvl="0" marL="457200" rtl="0" algn="l">
              <a:lnSpc>
                <a:spcPct val="115000"/>
              </a:lnSpc>
              <a:spcBef>
                <a:spcPts val="0"/>
              </a:spcBef>
              <a:spcAft>
                <a:spcPts val="0"/>
              </a:spcAft>
              <a:buClr>
                <a:schemeClr val="dk1"/>
              </a:buClr>
              <a:buSzPct val="100000"/>
              <a:buFont typeface="Georgia"/>
              <a:buChar char="●"/>
            </a:pPr>
            <a:r>
              <a:rPr lang="en-US" sz="1522">
                <a:solidFill>
                  <a:schemeClr val="dk1"/>
                </a:solidFill>
                <a:latin typeface="Georgia"/>
                <a:ea typeface="Georgia"/>
                <a:cs typeface="Georgia"/>
                <a:sym typeface="Georgia"/>
              </a:rPr>
              <a:t>The </a:t>
            </a:r>
            <a:r>
              <a:rPr b="1" lang="en-US" sz="1522">
                <a:solidFill>
                  <a:schemeClr val="dk1"/>
                </a:solidFill>
                <a:latin typeface="Georgia"/>
                <a:ea typeface="Georgia"/>
                <a:cs typeface="Georgia"/>
                <a:sym typeface="Georgia"/>
              </a:rPr>
              <a:t>dropdown and slider</a:t>
            </a:r>
            <a:r>
              <a:rPr lang="en-US" sz="1522">
                <a:solidFill>
                  <a:schemeClr val="dk1"/>
                </a:solidFill>
                <a:latin typeface="Georgia"/>
                <a:ea typeface="Georgia"/>
                <a:cs typeface="Georgia"/>
                <a:sym typeface="Georgia"/>
              </a:rPr>
              <a:t> make the dashboard interactive and support drill-down analysis, which is useful for comparing launch sites and payload ranges side by side</a:t>
            </a:r>
            <a:endParaRPr sz="1522">
              <a:solidFill>
                <a:schemeClr val="dk1"/>
              </a:solidFill>
              <a:latin typeface="Georgia"/>
              <a:ea typeface="Georgia"/>
              <a:cs typeface="Georgia"/>
              <a:sym typeface="Georgia"/>
            </a:endParaRPr>
          </a:p>
          <a:p>
            <a:pPr indent="0" lvl="0" marL="0" marR="0" rtl="0" algn="l">
              <a:lnSpc>
                <a:spcPct val="100000"/>
              </a:lnSpc>
              <a:spcBef>
                <a:spcPts val="1400"/>
              </a:spcBef>
              <a:spcAft>
                <a:spcPts val="0"/>
              </a:spcAft>
              <a:buNone/>
            </a:pPr>
            <a:r>
              <a:t/>
            </a:r>
            <a:endParaRPr/>
          </a:p>
          <a:p>
            <a:pPr indent="-50800" lvl="0" marL="228600" marR="0" rtl="0" algn="l">
              <a:lnSpc>
                <a:spcPct val="90000"/>
              </a:lnSpc>
              <a:spcBef>
                <a:spcPts val="1000"/>
              </a:spcBef>
              <a:spcAft>
                <a:spcPts val="0"/>
              </a:spcAft>
              <a:buClr>
                <a:schemeClr val="dk1"/>
              </a:buClr>
              <a:buSzPct val="170732"/>
              <a:buFont typeface="Arial"/>
              <a:buNone/>
            </a:pPr>
            <a:r>
              <a:rPr lang="en-US" sz="1640">
                <a:solidFill>
                  <a:srgbClr val="292929"/>
                </a:solidFill>
              </a:rPr>
              <a:t>Git Hub URL:https://github.com/gnembac/IBM_Datascience_Capstone_PRJ/blob/8a1ffe090f7609bce76c20859dbf3591691bb5ca/spacex-dash-app%20(2).py</a:t>
            </a:r>
            <a:endParaRPr sz="1640">
              <a:solidFill>
                <a:schemeClr val="dk1"/>
              </a:solidFill>
              <a:latin typeface="Calibri"/>
              <a:ea typeface="Calibri"/>
              <a:cs typeface="Calibri"/>
              <a:sym typeface="Calibri"/>
            </a:endParaRPr>
          </a:p>
        </p:txBody>
      </p:sp>
      <p:sp>
        <p:nvSpPr>
          <p:cNvPr id="198" name="Google Shape;198;p14"/>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Build a Dashboard with Plotly Dash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15"/>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p15"/>
          <p:cNvSpPr txBox="1"/>
          <p:nvPr>
            <p:ph idx="1" type="body"/>
          </p:nvPr>
        </p:nvSpPr>
        <p:spPr>
          <a:xfrm>
            <a:off x="770000" y="1299325"/>
            <a:ext cx="7092300" cy="5324700"/>
          </a:xfrm>
          <a:prstGeom prst="rect">
            <a:avLst/>
          </a:prstGeom>
          <a:noFill/>
          <a:ln>
            <a:noFill/>
          </a:ln>
        </p:spPr>
        <p:txBody>
          <a:bodyPr anchorCtr="0" anchor="t" bIns="45700" lIns="91425" spcFirstLastPara="1" rIns="91425" wrap="square" tIns="45700">
            <a:noAutofit/>
          </a:bodyPr>
          <a:lstStyle/>
          <a:p>
            <a:pPr indent="0" lvl="0" marL="0" rtl="0" algn="l">
              <a:lnSpc>
                <a:spcPct val="125000"/>
              </a:lnSpc>
              <a:spcBef>
                <a:spcPts val="1800"/>
              </a:spcBef>
              <a:spcAft>
                <a:spcPts val="0"/>
              </a:spcAft>
              <a:buClr>
                <a:schemeClr val="dk1"/>
              </a:buClr>
              <a:buSzPts val="1100"/>
              <a:buFont typeface="Arial"/>
              <a:buNone/>
            </a:pPr>
            <a:r>
              <a:rPr b="1" lang="en-US" sz="900">
                <a:solidFill>
                  <a:schemeClr val="dk1"/>
                </a:solidFill>
              </a:rPr>
              <a:t>Process summary</a:t>
            </a:r>
            <a:endParaRPr b="1" sz="900">
              <a:solidFill>
                <a:schemeClr val="dk1"/>
              </a:solidFill>
            </a:endParaRPr>
          </a:p>
          <a:p>
            <a:pPr indent="-285750" lvl="0" marL="457200" rtl="0" algn="l">
              <a:lnSpc>
                <a:spcPct val="115000"/>
              </a:lnSpc>
              <a:spcBef>
                <a:spcPts val="40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Feature preparation:</a:t>
            </a:r>
            <a:r>
              <a:rPr lang="en-US" sz="900">
                <a:solidFill>
                  <a:schemeClr val="dk1"/>
                </a:solidFill>
                <a:latin typeface="Georgia"/>
                <a:ea typeface="Georgia"/>
                <a:cs typeface="Georgia"/>
                <a:sym typeface="Georgia"/>
              </a:rPr>
              <a:t> Created the target label </a:t>
            </a:r>
            <a:r>
              <a:rPr lang="en-US" sz="900">
                <a:solidFill>
                  <a:schemeClr val="dk1"/>
                </a:solidFill>
                <a:latin typeface="Courier New"/>
                <a:ea typeface="Courier New"/>
                <a:cs typeface="Courier New"/>
                <a:sym typeface="Courier New"/>
              </a:rPr>
              <a:t>Class</a:t>
            </a:r>
            <a:r>
              <a:rPr lang="en-US" sz="900">
                <a:solidFill>
                  <a:schemeClr val="dk1"/>
                </a:solidFill>
                <a:latin typeface="Georgia"/>
                <a:ea typeface="Georgia"/>
                <a:cs typeface="Georgia"/>
                <a:sym typeface="Georgia"/>
              </a:rPr>
              <a:t>, standardized the predictors with </a:t>
            </a:r>
            <a:r>
              <a:rPr lang="en-US" sz="900">
                <a:solidFill>
                  <a:schemeClr val="dk1"/>
                </a:solidFill>
                <a:latin typeface="Courier New"/>
                <a:ea typeface="Courier New"/>
                <a:cs typeface="Courier New"/>
                <a:sym typeface="Courier New"/>
              </a:rPr>
              <a:t>StandardScaler</a:t>
            </a:r>
            <a:r>
              <a:rPr lang="en-US" sz="900">
                <a:solidFill>
                  <a:schemeClr val="dk1"/>
                </a:solidFill>
                <a:latin typeface="Georgia"/>
                <a:ea typeface="Georgia"/>
                <a:cs typeface="Georgia"/>
                <a:sym typeface="Georgia"/>
              </a:rPr>
              <a:t>, and split the data into train/test sets with an 80/20 split.</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Baseline modeling:</a:t>
            </a:r>
            <a:r>
              <a:rPr lang="en-US" sz="900">
                <a:solidFill>
                  <a:schemeClr val="dk1"/>
                </a:solidFill>
                <a:latin typeface="Georgia"/>
                <a:ea typeface="Georgia"/>
                <a:cs typeface="Georgia"/>
                <a:sym typeface="Georgia"/>
              </a:rPr>
              <a:t> Trained and tuned four classifiers: Logistic Regression, Support Vector Machine, Decision Tree, and K-Nearest Neighbors.</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Hyperparameter search:</a:t>
            </a:r>
            <a:r>
              <a:rPr lang="en-US" sz="900">
                <a:solidFill>
                  <a:schemeClr val="dk1"/>
                </a:solidFill>
                <a:latin typeface="Georgia"/>
                <a:ea typeface="Georgia"/>
                <a:cs typeface="Georgia"/>
                <a:sym typeface="Georgia"/>
              </a:rPr>
              <a:t> Used </a:t>
            </a:r>
            <a:r>
              <a:rPr lang="en-US" sz="900">
                <a:solidFill>
                  <a:schemeClr val="dk1"/>
                </a:solidFill>
                <a:latin typeface="Courier New"/>
                <a:ea typeface="Courier New"/>
                <a:cs typeface="Courier New"/>
                <a:sym typeface="Courier New"/>
              </a:rPr>
              <a:t>GridSearchCV</a:t>
            </a:r>
            <a:r>
              <a:rPr lang="en-US" sz="900">
                <a:solidFill>
                  <a:schemeClr val="dk1"/>
                </a:solidFill>
                <a:latin typeface="Georgia"/>
                <a:ea typeface="Georgia"/>
                <a:cs typeface="Georgia"/>
                <a:sym typeface="Georgia"/>
              </a:rPr>
              <a:t> with 10-fold cross-validation to tune each model and select the best parameter combination.</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Validation scoring:</a:t>
            </a:r>
            <a:r>
              <a:rPr lang="en-US" sz="900">
                <a:solidFill>
                  <a:schemeClr val="dk1"/>
                </a:solidFill>
                <a:latin typeface="Georgia"/>
                <a:ea typeface="Georgia"/>
                <a:cs typeface="Georgia"/>
                <a:sym typeface="Georgia"/>
              </a:rPr>
              <a:t> Compared models using cross-validation accuracy and then checked test-set accuracy for the fitted best estimator.</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Error inspection:</a:t>
            </a:r>
            <a:r>
              <a:rPr lang="en-US" sz="900">
                <a:solidFill>
                  <a:schemeClr val="dk1"/>
                </a:solidFill>
                <a:latin typeface="Georgia"/>
                <a:ea typeface="Georgia"/>
                <a:cs typeface="Georgia"/>
                <a:sym typeface="Georgia"/>
              </a:rPr>
              <a:t> Plotted confusion matrices to inspect misclassifications, especially false positives and false negatives.</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Model selection:</a:t>
            </a:r>
            <a:r>
              <a:rPr lang="en-US" sz="900">
                <a:solidFill>
                  <a:schemeClr val="dk1"/>
                </a:solidFill>
                <a:latin typeface="Georgia"/>
                <a:ea typeface="Georgia"/>
                <a:cs typeface="Georgia"/>
                <a:sym typeface="Georgia"/>
              </a:rPr>
              <a:t> Chose the model with the highest test performance, which was the </a:t>
            </a:r>
            <a:r>
              <a:rPr b="1" lang="en-US" sz="900">
                <a:solidFill>
                  <a:schemeClr val="dk1"/>
                </a:solidFill>
                <a:latin typeface="Georgia"/>
                <a:ea typeface="Georgia"/>
                <a:cs typeface="Georgia"/>
                <a:sym typeface="Georgia"/>
              </a:rPr>
              <a:t>Decision Tree classifier</a:t>
            </a:r>
            <a:r>
              <a:rPr lang="en-US" sz="900">
                <a:solidFill>
                  <a:schemeClr val="dk1"/>
                </a:solidFill>
                <a:latin typeface="Georgia"/>
                <a:ea typeface="Georgia"/>
                <a:cs typeface="Georgia"/>
                <a:sym typeface="Georgia"/>
              </a:rPr>
              <a:t>.</a:t>
            </a:r>
            <a:endParaRPr sz="900">
              <a:solidFill>
                <a:schemeClr val="dk1"/>
              </a:solidFill>
              <a:latin typeface="Georgia"/>
              <a:ea typeface="Georgia"/>
              <a:cs typeface="Georgia"/>
              <a:sym typeface="Georgia"/>
            </a:endParaRPr>
          </a:p>
          <a:p>
            <a:pPr indent="0" lvl="0" marL="0" rtl="0" algn="l">
              <a:lnSpc>
                <a:spcPct val="125000"/>
              </a:lnSpc>
              <a:spcBef>
                <a:spcPts val="1800"/>
              </a:spcBef>
              <a:spcAft>
                <a:spcPts val="0"/>
              </a:spcAft>
              <a:buClr>
                <a:schemeClr val="dk1"/>
              </a:buClr>
              <a:buSzPts val="1100"/>
              <a:buFont typeface="Arial"/>
              <a:buNone/>
            </a:pPr>
            <a:r>
              <a:rPr b="1" lang="en-US" sz="900">
                <a:solidFill>
                  <a:schemeClr val="dk1"/>
                </a:solidFill>
              </a:rPr>
              <a:t>Best model results</a:t>
            </a:r>
            <a:endParaRPr b="1" sz="900">
              <a:solidFill>
                <a:schemeClr val="dk1"/>
              </a:solidFill>
            </a:endParaRPr>
          </a:p>
          <a:p>
            <a:pPr indent="-285750" lvl="0" marL="457200" rtl="0" algn="l">
              <a:lnSpc>
                <a:spcPct val="115000"/>
              </a:lnSpc>
              <a:spcBef>
                <a:spcPts val="40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Logistic Regression:</a:t>
            </a:r>
            <a:r>
              <a:rPr lang="en-US" sz="900">
                <a:solidFill>
                  <a:schemeClr val="dk1"/>
                </a:solidFill>
                <a:latin typeface="Georgia"/>
                <a:ea typeface="Georgia"/>
                <a:cs typeface="Georgia"/>
                <a:sym typeface="Georgia"/>
              </a:rPr>
              <a:t> Best CV accuracy about 0.8464, test accuracy about 0.8333.</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SVM:</a:t>
            </a:r>
            <a:r>
              <a:rPr lang="en-US" sz="900">
                <a:solidFill>
                  <a:schemeClr val="dk1"/>
                </a:solidFill>
                <a:latin typeface="Georgia"/>
                <a:ea typeface="Georgia"/>
                <a:cs typeface="Georgia"/>
                <a:sym typeface="Georgia"/>
              </a:rPr>
              <a:t> Best CV accuracy about 0.8482, with best parameters </a:t>
            </a:r>
            <a:r>
              <a:rPr lang="en-US" sz="900">
                <a:solidFill>
                  <a:schemeClr val="dk1"/>
                </a:solidFill>
                <a:latin typeface="Courier New"/>
                <a:ea typeface="Courier New"/>
                <a:cs typeface="Courier New"/>
                <a:sym typeface="Courier New"/>
              </a:rPr>
              <a:t>C=1.0</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gamma=0.03162277660168379</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kernel='sigmoid'</a:t>
            </a:r>
            <a:r>
              <a:rPr lang="en-US" sz="900">
                <a:solidFill>
                  <a:schemeClr val="dk1"/>
                </a:solidFill>
                <a:latin typeface="Georgia"/>
                <a:ea typeface="Georgia"/>
                <a:cs typeface="Georgia"/>
                <a:sym typeface="Georgia"/>
              </a:rPr>
              <a:t>.</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KNN:</a:t>
            </a:r>
            <a:r>
              <a:rPr lang="en-US" sz="900">
                <a:solidFill>
                  <a:schemeClr val="dk1"/>
                </a:solidFill>
                <a:latin typeface="Georgia"/>
                <a:ea typeface="Georgia"/>
                <a:cs typeface="Georgia"/>
                <a:sym typeface="Georgia"/>
              </a:rPr>
              <a:t> Best CV accuracy about 0.8482, with best parameters </a:t>
            </a:r>
            <a:r>
              <a:rPr lang="en-US" sz="900">
                <a:solidFill>
                  <a:schemeClr val="dk1"/>
                </a:solidFill>
                <a:latin typeface="Courier New"/>
                <a:ea typeface="Courier New"/>
                <a:cs typeface="Courier New"/>
                <a:sym typeface="Courier New"/>
              </a:rPr>
              <a:t>algorithm='auto'</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n_neighbors=10</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p=1</a:t>
            </a:r>
            <a:r>
              <a:rPr lang="en-US" sz="900">
                <a:solidFill>
                  <a:schemeClr val="dk1"/>
                </a:solidFill>
                <a:latin typeface="Georgia"/>
                <a:ea typeface="Georgia"/>
                <a:cs typeface="Georgia"/>
                <a:sym typeface="Georgia"/>
              </a:rPr>
              <a:t>.</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Decision Tree:</a:t>
            </a:r>
            <a:r>
              <a:rPr lang="en-US" sz="900">
                <a:solidFill>
                  <a:schemeClr val="dk1"/>
                </a:solidFill>
                <a:latin typeface="Georgia"/>
                <a:ea typeface="Georgia"/>
                <a:cs typeface="Georgia"/>
                <a:sym typeface="Georgia"/>
              </a:rPr>
              <a:t> Best CV accuracy about 0.8893, with best parameters </a:t>
            </a:r>
            <a:r>
              <a:rPr lang="en-US" sz="900">
                <a:solidFill>
                  <a:schemeClr val="dk1"/>
                </a:solidFill>
                <a:latin typeface="Courier New"/>
                <a:ea typeface="Courier New"/>
                <a:cs typeface="Courier New"/>
                <a:sym typeface="Courier New"/>
              </a:rPr>
              <a:t>criterion='entropy'</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max_depth=16</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max_features='sqrt'</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min_samples_leaf=2</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min_samples_split=2</a:t>
            </a:r>
            <a:r>
              <a:rPr lang="en-US" sz="900">
                <a:solidFill>
                  <a:schemeClr val="dk1"/>
                </a:solidFill>
                <a:latin typeface="Georgia"/>
                <a:ea typeface="Georgia"/>
                <a:cs typeface="Georgia"/>
                <a:sym typeface="Georgia"/>
              </a:rPr>
              <a:t>, </a:t>
            </a:r>
            <a:r>
              <a:rPr lang="en-US" sz="900">
                <a:solidFill>
                  <a:schemeClr val="dk1"/>
                </a:solidFill>
                <a:latin typeface="Courier New"/>
                <a:ea typeface="Courier New"/>
                <a:cs typeface="Courier New"/>
                <a:sym typeface="Courier New"/>
              </a:rPr>
              <a:t>splitter='random'</a:t>
            </a:r>
            <a:r>
              <a:rPr lang="en-US" sz="900">
                <a:solidFill>
                  <a:schemeClr val="dk1"/>
                </a:solidFill>
                <a:latin typeface="Georgia"/>
                <a:ea typeface="Georgia"/>
                <a:cs typeface="Georgia"/>
                <a:sym typeface="Georgia"/>
              </a:rPr>
              <a:t>.</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b="1" lang="en-US" sz="900">
                <a:solidFill>
                  <a:schemeClr val="dk1"/>
                </a:solidFill>
                <a:latin typeface="Georgia"/>
                <a:ea typeface="Georgia"/>
                <a:cs typeface="Georgia"/>
                <a:sym typeface="Georgia"/>
              </a:rPr>
              <a:t>Winner:</a:t>
            </a:r>
            <a:r>
              <a:rPr lang="en-US" sz="900">
                <a:solidFill>
                  <a:schemeClr val="dk1"/>
                </a:solidFill>
                <a:latin typeface="Georgia"/>
                <a:ea typeface="Georgia"/>
                <a:cs typeface="Georgia"/>
                <a:sym typeface="Georgia"/>
              </a:rPr>
              <a:t> The notebook explicitly states that the </a:t>
            </a:r>
            <a:r>
              <a:rPr b="1" lang="en-US" sz="900">
                <a:solidFill>
                  <a:schemeClr val="dk1"/>
                </a:solidFill>
                <a:latin typeface="Georgia"/>
                <a:ea typeface="Georgia"/>
                <a:cs typeface="Georgia"/>
                <a:sym typeface="Georgia"/>
              </a:rPr>
              <a:t>decision tree has the best accuracy</a:t>
            </a:r>
            <a:r>
              <a:rPr lang="en-US" sz="900">
                <a:solidFill>
                  <a:schemeClr val="dk1"/>
                </a:solidFill>
                <a:latin typeface="Georgia"/>
                <a:ea typeface="Georgia"/>
                <a:cs typeface="Georgia"/>
                <a:sym typeface="Georgia"/>
              </a:rPr>
              <a:t>.</a:t>
            </a:r>
            <a:endParaRPr sz="900">
              <a:solidFill>
                <a:schemeClr val="dk1"/>
              </a:solidFill>
              <a:latin typeface="Georgia"/>
              <a:ea typeface="Georgia"/>
              <a:cs typeface="Georgia"/>
              <a:sym typeface="Georgia"/>
            </a:endParaRPr>
          </a:p>
          <a:p>
            <a:pPr indent="0" lvl="0" marL="0" rtl="0" algn="l">
              <a:lnSpc>
                <a:spcPct val="125000"/>
              </a:lnSpc>
              <a:spcBef>
                <a:spcPts val="1800"/>
              </a:spcBef>
              <a:spcAft>
                <a:spcPts val="0"/>
              </a:spcAft>
              <a:buNone/>
            </a:pPr>
            <a:r>
              <a:rPr b="1" lang="en-US" sz="900">
                <a:solidFill>
                  <a:schemeClr val="dk1"/>
                </a:solidFill>
              </a:rPr>
              <a:t>Why this process</a:t>
            </a:r>
            <a:endParaRPr b="1" sz="900">
              <a:solidFill>
                <a:schemeClr val="dk1"/>
              </a:solidFill>
            </a:endParaRPr>
          </a:p>
          <a:p>
            <a:pPr indent="-285750" lvl="0" marL="457200" rtl="0" algn="l">
              <a:lnSpc>
                <a:spcPct val="115000"/>
              </a:lnSpc>
              <a:spcBef>
                <a:spcPts val="400"/>
              </a:spcBef>
              <a:spcAft>
                <a:spcPts val="0"/>
              </a:spcAft>
              <a:buClr>
                <a:schemeClr val="dk1"/>
              </a:buClr>
              <a:buSzPts val="900"/>
              <a:buFont typeface="Georgia"/>
              <a:buChar char="●"/>
            </a:pPr>
            <a:r>
              <a:rPr lang="en-US" sz="900">
                <a:solidFill>
                  <a:schemeClr val="dk1"/>
                </a:solidFill>
                <a:latin typeface="Georgia"/>
                <a:ea typeface="Georgia"/>
                <a:cs typeface="Georgia"/>
                <a:sym typeface="Georgia"/>
              </a:rPr>
              <a:t>Standardization was needed because the feature set contains mixed scales, and scale-sensitive models like SVM and KNN benefit from it.</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lang="en-US" sz="900">
                <a:solidFill>
                  <a:schemeClr val="dk1"/>
                </a:solidFill>
                <a:latin typeface="Georgia"/>
                <a:ea typeface="Georgia"/>
                <a:cs typeface="Georgia"/>
                <a:sym typeface="Georgia"/>
              </a:rPr>
              <a:t>Grid search with cross-validation was used to reduce overfitting and make hyperparameter selection more reliable.</a:t>
            </a:r>
            <a:endParaRPr sz="900">
              <a:solidFill>
                <a:schemeClr val="dk1"/>
              </a:solidFill>
              <a:latin typeface="Georgia"/>
              <a:ea typeface="Georgia"/>
              <a:cs typeface="Georgia"/>
              <a:sym typeface="Georgia"/>
            </a:endParaRPr>
          </a:p>
          <a:p>
            <a:pPr indent="-285750" lvl="0" marL="457200" rtl="0" algn="l">
              <a:lnSpc>
                <a:spcPct val="115000"/>
              </a:lnSpc>
              <a:spcBef>
                <a:spcPts val="0"/>
              </a:spcBef>
              <a:spcAft>
                <a:spcPts val="0"/>
              </a:spcAft>
              <a:buClr>
                <a:schemeClr val="dk1"/>
              </a:buClr>
              <a:buSzPts val="900"/>
              <a:buFont typeface="Georgia"/>
              <a:buChar char="●"/>
            </a:pPr>
            <a:r>
              <a:rPr lang="en-US" sz="900">
                <a:solidFill>
                  <a:schemeClr val="dk1"/>
                </a:solidFill>
                <a:latin typeface="Georgia"/>
                <a:ea typeface="Georgia"/>
                <a:cs typeface="Georgia"/>
                <a:sym typeface="Georgia"/>
              </a:rPr>
              <a:t>Confusion matrices were added because accuracy alone can hide asymmetric errors, especially false positives in landing prediction.</a:t>
            </a:r>
            <a:endParaRPr sz="900">
              <a:solidFill>
                <a:schemeClr val="dk1"/>
              </a:solidFill>
              <a:latin typeface="Georgia"/>
              <a:ea typeface="Georgia"/>
              <a:cs typeface="Georgia"/>
              <a:sym typeface="Georgia"/>
            </a:endParaRPr>
          </a:p>
          <a:p>
            <a:pPr indent="0" lvl="0" marL="0" marR="0" rtl="0" algn="l">
              <a:lnSpc>
                <a:spcPct val="90000"/>
              </a:lnSpc>
              <a:spcBef>
                <a:spcPts val="1000"/>
              </a:spcBef>
              <a:spcAft>
                <a:spcPts val="0"/>
              </a:spcAft>
              <a:buClr>
                <a:schemeClr val="dk1"/>
              </a:buClr>
              <a:buSzPts val="2800"/>
              <a:buFont typeface="Arial"/>
              <a:buNone/>
            </a:pPr>
            <a:r>
              <a:rPr lang="en-US" sz="900">
                <a:solidFill>
                  <a:srgbClr val="292929"/>
                </a:solidFill>
              </a:rPr>
              <a:t>Git Hub URL: https://github.com/gnembac/IBM_Datascience_Capstone_PRJ/blob/6e21daf03c41eb1c9b2a88be2b37c3e93329804c/SpaceX_Machine%20Learning%20Prediction_Part_5.ipynb</a:t>
            </a:r>
            <a:endParaRPr sz="900">
              <a:solidFill>
                <a:schemeClr val="dk1"/>
              </a:solidFill>
              <a:latin typeface="Calibri"/>
              <a:ea typeface="Calibri"/>
              <a:cs typeface="Calibri"/>
              <a:sym typeface="Calibri"/>
            </a:endParaRPr>
          </a:p>
        </p:txBody>
      </p:sp>
      <p:sp>
        <p:nvSpPr>
          <p:cNvPr id="205" name="Google Shape;205;p15"/>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Predictive Analysis (Classification)</a:t>
            </a:r>
            <a:endParaRPr/>
          </a:p>
        </p:txBody>
      </p:sp>
      <p:pic>
        <p:nvPicPr>
          <p:cNvPr id="206" name="Google Shape;206;p15"/>
          <p:cNvPicPr preferRelativeResize="0"/>
          <p:nvPr/>
        </p:nvPicPr>
        <p:blipFill>
          <a:blip r:embed="rId4">
            <a:alphaModFix/>
          </a:blip>
          <a:stretch>
            <a:fillRect/>
          </a:stretch>
        </p:blipFill>
        <p:spPr>
          <a:xfrm>
            <a:off x="8221275" y="1299324"/>
            <a:ext cx="2994828" cy="463307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sp>
        <p:nvSpPr>
          <p:cNvPr id="212" name="Google Shape;212;p16"/>
          <p:cNvSpPr txBox="1"/>
          <p:nvPr/>
        </p:nvSpPr>
        <p:spPr>
          <a:xfrm>
            <a:off x="841125" y="1807300"/>
            <a:ext cx="10617000" cy="4713600"/>
          </a:xfrm>
          <a:prstGeom prst="rect">
            <a:avLst/>
          </a:prstGeom>
          <a:noFill/>
          <a:ln>
            <a:noFill/>
          </a:ln>
        </p:spPr>
        <p:txBody>
          <a:bodyPr anchorCtr="0" anchor="t" bIns="45700" lIns="91425" spcFirstLastPara="1" rIns="91425" wrap="square" tIns="45700">
            <a:normAutofit fontScale="77500" lnSpcReduction="20000"/>
          </a:bodyPr>
          <a:lstStyle/>
          <a:p>
            <a:pPr indent="0" lvl="0" marL="304800" marR="304800" rtl="0" algn="l">
              <a:lnSpc>
                <a:spcPct val="125000"/>
              </a:lnSpc>
              <a:spcBef>
                <a:spcPts val="0"/>
              </a:spcBef>
              <a:spcAft>
                <a:spcPts val="0"/>
              </a:spcAft>
              <a:buNone/>
            </a:pPr>
            <a:r>
              <a:rPr b="1" lang="en-US" sz="1800">
                <a:solidFill>
                  <a:schemeClr val="dk1"/>
                </a:solidFill>
                <a:latin typeface="Georgia"/>
                <a:ea typeface="Georgia"/>
                <a:cs typeface="Georgia"/>
                <a:sym typeface="Georgia"/>
              </a:rPr>
              <a:t>Exploratory analysis</a:t>
            </a:r>
            <a:endParaRPr b="1" sz="18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 EDA results showed that </a:t>
            </a:r>
            <a:r>
              <a:rPr b="1" lang="en-US" sz="1200">
                <a:solidFill>
                  <a:schemeClr val="dk1"/>
                </a:solidFill>
                <a:latin typeface="Georgia"/>
                <a:ea typeface="Georgia"/>
                <a:cs typeface="Georgia"/>
                <a:sym typeface="Georgia"/>
              </a:rPr>
              <a:t>launch success varies by site, orbit, and payload mass</a:t>
            </a:r>
            <a:r>
              <a:rPr lang="en-US" sz="1200">
                <a:solidFill>
                  <a:schemeClr val="dk1"/>
                </a:solidFill>
                <a:latin typeface="Georgia"/>
                <a:ea typeface="Georgia"/>
                <a:cs typeface="Georgia"/>
                <a:sym typeface="Georgia"/>
              </a:rPr>
              <a:t>, which justified deeper drill-down analysis rather than treating all launches as one population.</a:t>
            </a:r>
            <a:endParaRPr sz="12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 notebook used scatter plots and bar charts to reveal patterns in launch site behavior, orbit-specific success rates, and payload distribution across missions.</a:t>
            </a:r>
            <a:endParaRPr sz="12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 SQL notebook reinforced this by summarizing key mission facts such as unique launch sites, payload totals, average payloads, first successful ground-pad landing date, and landing outcome frequencies.</a:t>
            </a:r>
            <a:endParaRPr sz="1200">
              <a:solidFill>
                <a:schemeClr val="dk1"/>
              </a:solidFill>
              <a:latin typeface="Georgia"/>
              <a:ea typeface="Georgia"/>
              <a:cs typeface="Georgia"/>
              <a:sym typeface="Georgia"/>
            </a:endParaRPr>
          </a:p>
          <a:p>
            <a:pPr indent="0" lvl="0" marL="304800" marR="304800" rtl="0" algn="l">
              <a:lnSpc>
                <a:spcPct val="125000"/>
              </a:lnSpc>
              <a:spcBef>
                <a:spcPts val="0"/>
              </a:spcBef>
              <a:spcAft>
                <a:spcPts val="0"/>
              </a:spcAft>
              <a:buNone/>
            </a:pPr>
            <a:r>
              <a:rPr b="1" lang="en-US" sz="1800">
                <a:solidFill>
                  <a:schemeClr val="dk1"/>
                </a:solidFill>
                <a:latin typeface="Georgia"/>
                <a:ea typeface="Georgia"/>
                <a:cs typeface="Georgia"/>
                <a:sym typeface="Georgia"/>
              </a:rPr>
              <a:t>Interactive demo</a:t>
            </a:r>
            <a:endParaRPr b="1" sz="18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 interactive Folium demo mapped launch sites with circles, labeled markers, and outcome markers so the viewer could inspect </a:t>
            </a:r>
            <a:r>
              <a:rPr b="1" lang="en-US" sz="1200">
                <a:solidFill>
                  <a:schemeClr val="dk1"/>
                </a:solidFill>
                <a:latin typeface="Georgia"/>
                <a:ea typeface="Georgia"/>
                <a:cs typeface="Georgia"/>
                <a:sym typeface="Georgia"/>
              </a:rPr>
              <a:t>where</a:t>
            </a:r>
            <a:r>
              <a:rPr lang="en-US" sz="1200">
                <a:solidFill>
                  <a:schemeClr val="dk1"/>
                </a:solidFill>
                <a:latin typeface="Georgia"/>
                <a:ea typeface="Georgia"/>
                <a:cs typeface="Georgia"/>
                <a:sym typeface="Georgia"/>
              </a:rPr>
              <a:t> launches happened and how success/failure clustered geographically.</a:t>
            </a:r>
            <a:endParaRPr sz="12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 dashboard added a dropdown, a payload range slider, a success pie chart, and a payload-vs-outcome scatter plot to support </a:t>
            </a:r>
            <a:r>
              <a:rPr b="1" lang="en-US" sz="1200">
                <a:solidFill>
                  <a:schemeClr val="dk1"/>
                </a:solidFill>
                <a:latin typeface="Georgia"/>
                <a:ea typeface="Georgia"/>
                <a:cs typeface="Georgia"/>
                <a:sym typeface="Georgia"/>
              </a:rPr>
              <a:t>drill-down exploration</a:t>
            </a:r>
            <a:r>
              <a:rPr lang="en-US" sz="1200">
                <a:solidFill>
                  <a:schemeClr val="dk1"/>
                </a:solidFill>
                <a:latin typeface="Georgia"/>
                <a:ea typeface="Georgia"/>
                <a:cs typeface="Georgia"/>
                <a:sym typeface="Georgia"/>
              </a:rPr>
              <a:t> by launch site and payload range.</a:t>
            </a:r>
            <a:endParaRPr sz="12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These interactions were designed to make the analysis exploratory rather than static, letting the user change the slice of data instantly.</a:t>
            </a:r>
            <a:endParaRPr sz="1200">
              <a:solidFill>
                <a:schemeClr val="dk1"/>
              </a:solidFill>
              <a:latin typeface="Georgia"/>
              <a:ea typeface="Georgia"/>
              <a:cs typeface="Georgia"/>
              <a:sym typeface="Georgia"/>
            </a:endParaRPr>
          </a:p>
          <a:p>
            <a:pPr indent="0" lvl="0" marL="304800" marR="304800" rtl="0" algn="l">
              <a:lnSpc>
                <a:spcPct val="125000"/>
              </a:lnSpc>
              <a:spcBef>
                <a:spcPts val="0"/>
              </a:spcBef>
              <a:spcAft>
                <a:spcPts val="0"/>
              </a:spcAft>
              <a:buNone/>
            </a:pPr>
            <a:r>
              <a:rPr b="1" lang="en-US" sz="1800">
                <a:solidFill>
                  <a:schemeClr val="dk1"/>
                </a:solidFill>
                <a:latin typeface="Georgia"/>
                <a:ea typeface="Georgia"/>
                <a:cs typeface="Georgia"/>
                <a:sym typeface="Georgia"/>
              </a:rPr>
              <a:t>Predictive results</a:t>
            </a:r>
            <a:endParaRPr b="1" sz="18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 machine-learning notebook standardized the features, split the data into training and test sets, and tuned Logistic Regression, SVM, Decision Tree, and KNN models using 10-fold cross-validation.</a:t>
            </a:r>
            <a:endParaRPr sz="12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 best-performing classifier was the </a:t>
            </a:r>
            <a:r>
              <a:rPr b="1" lang="en-US" sz="1200">
                <a:solidFill>
                  <a:schemeClr val="dk1"/>
                </a:solidFill>
                <a:latin typeface="Georgia"/>
                <a:ea typeface="Georgia"/>
                <a:cs typeface="Georgia"/>
                <a:sym typeface="Georgia"/>
              </a:rPr>
              <a:t>Decision Tree</a:t>
            </a:r>
            <a:r>
              <a:rPr lang="en-US" sz="1200">
                <a:solidFill>
                  <a:schemeClr val="dk1"/>
                </a:solidFill>
                <a:latin typeface="Georgia"/>
                <a:ea typeface="Georgia"/>
                <a:cs typeface="Georgia"/>
                <a:sym typeface="Georgia"/>
              </a:rPr>
              <a:t>, with validation accuracy about 0.8893 and the best tuned parameters </a:t>
            </a:r>
            <a:r>
              <a:rPr lang="en-US" sz="1050">
                <a:solidFill>
                  <a:schemeClr val="dk1"/>
                </a:solidFill>
                <a:latin typeface="Courier New"/>
                <a:ea typeface="Courier New"/>
                <a:cs typeface="Courier New"/>
                <a:sym typeface="Courier New"/>
              </a:rPr>
              <a:t>criterion=entropy</a:t>
            </a:r>
            <a:r>
              <a:rPr lang="en-US" sz="1200">
                <a:solidFill>
                  <a:schemeClr val="dk1"/>
                </a:solidFill>
                <a:latin typeface="Georgia"/>
                <a:ea typeface="Georgia"/>
                <a:cs typeface="Georgia"/>
                <a:sym typeface="Georgia"/>
              </a:rPr>
              <a:t>, </a:t>
            </a:r>
            <a:r>
              <a:rPr lang="en-US" sz="1050">
                <a:solidFill>
                  <a:schemeClr val="dk1"/>
                </a:solidFill>
                <a:latin typeface="Courier New"/>
                <a:ea typeface="Courier New"/>
                <a:cs typeface="Courier New"/>
                <a:sym typeface="Courier New"/>
              </a:rPr>
              <a:t>max_depth=16</a:t>
            </a:r>
            <a:r>
              <a:rPr lang="en-US" sz="1200">
                <a:solidFill>
                  <a:schemeClr val="dk1"/>
                </a:solidFill>
                <a:latin typeface="Georgia"/>
                <a:ea typeface="Georgia"/>
                <a:cs typeface="Georgia"/>
                <a:sym typeface="Georgia"/>
              </a:rPr>
              <a:t>, </a:t>
            </a:r>
            <a:r>
              <a:rPr lang="en-US" sz="1050">
                <a:solidFill>
                  <a:schemeClr val="dk1"/>
                </a:solidFill>
                <a:latin typeface="Courier New"/>
                <a:ea typeface="Courier New"/>
                <a:cs typeface="Courier New"/>
                <a:sym typeface="Courier New"/>
              </a:rPr>
              <a:t>max_features=sqrt</a:t>
            </a:r>
            <a:r>
              <a:rPr lang="en-US" sz="1200">
                <a:solidFill>
                  <a:schemeClr val="dk1"/>
                </a:solidFill>
                <a:latin typeface="Georgia"/>
                <a:ea typeface="Georgia"/>
                <a:cs typeface="Georgia"/>
                <a:sym typeface="Georgia"/>
              </a:rPr>
              <a:t>, </a:t>
            </a:r>
            <a:r>
              <a:rPr lang="en-US" sz="1050">
                <a:solidFill>
                  <a:schemeClr val="dk1"/>
                </a:solidFill>
                <a:latin typeface="Courier New"/>
                <a:ea typeface="Courier New"/>
                <a:cs typeface="Courier New"/>
                <a:sym typeface="Courier New"/>
              </a:rPr>
              <a:t>min_samples_leaf=2</a:t>
            </a:r>
            <a:r>
              <a:rPr lang="en-US" sz="1200">
                <a:solidFill>
                  <a:schemeClr val="dk1"/>
                </a:solidFill>
                <a:latin typeface="Georgia"/>
                <a:ea typeface="Georgia"/>
                <a:cs typeface="Georgia"/>
                <a:sym typeface="Georgia"/>
              </a:rPr>
              <a:t>, </a:t>
            </a:r>
            <a:r>
              <a:rPr lang="en-US" sz="1050">
                <a:solidFill>
                  <a:schemeClr val="dk1"/>
                </a:solidFill>
                <a:latin typeface="Courier New"/>
                <a:ea typeface="Courier New"/>
                <a:cs typeface="Courier New"/>
                <a:sym typeface="Courier New"/>
              </a:rPr>
              <a:t>min_samples_split=2</a:t>
            </a:r>
            <a:r>
              <a:rPr lang="en-US" sz="1200">
                <a:solidFill>
                  <a:schemeClr val="dk1"/>
                </a:solidFill>
                <a:latin typeface="Georgia"/>
                <a:ea typeface="Georgia"/>
                <a:cs typeface="Georgia"/>
                <a:sym typeface="Georgia"/>
              </a:rPr>
              <a:t>, and </a:t>
            </a:r>
            <a:r>
              <a:rPr lang="en-US" sz="1050">
                <a:solidFill>
                  <a:schemeClr val="dk1"/>
                </a:solidFill>
                <a:latin typeface="Courier New"/>
                <a:ea typeface="Courier New"/>
                <a:cs typeface="Courier New"/>
                <a:sym typeface="Courier New"/>
              </a:rPr>
              <a:t>splitter=random</a:t>
            </a:r>
            <a:r>
              <a:rPr lang="en-US" sz="1200">
                <a:solidFill>
                  <a:schemeClr val="dk1"/>
                </a:solidFill>
                <a:latin typeface="Georgia"/>
                <a:ea typeface="Georgia"/>
                <a:cs typeface="Georgia"/>
                <a:sym typeface="Georgia"/>
              </a:rPr>
              <a:t>.</a:t>
            </a:r>
            <a:endParaRPr sz="12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lang="en-US" sz="1200">
                <a:solidFill>
                  <a:schemeClr val="dk1"/>
                </a:solidFill>
                <a:latin typeface="Georgia"/>
                <a:ea typeface="Georgia"/>
                <a:cs typeface="Georgia"/>
                <a:sym typeface="Georgia"/>
              </a:rPr>
              <a:t>The notebook compared models on test data and used confusion matrices to inspect misclassification patterns, especially false positives.</a:t>
            </a:r>
            <a:endParaRPr sz="1200">
              <a:solidFill>
                <a:schemeClr val="dk1"/>
              </a:solidFill>
              <a:latin typeface="Georgia"/>
              <a:ea typeface="Georgia"/>
              <a:cs typeface="Georgia"/>
              <a:sym typeface="Georgia"/>
            </a:endParaRPr>
          </a:p>
          <a:p>
            <a:pPr indent="0" lvl="0" marL="304800" marR="304800" rtl="0" algn="l">
              <a:lnSpc>
                <a:spcPct val="125000"/>
              </a:lnSpc>
              <a:spcBef>
                <a:spcPts val="0"/>
              </a:spcBef>
              <a:spcAft>
                <a:spcPts val="0"/>
              </a:spcAft>
              <a:buNone/>
            </a:pPr>
            <a:r>
              <a:rPr b="1" lang="en-US" sz="1800">
                <a:solidFill>
                  <a:schemeClr val="dk1"/>
                </a:solidFill>
                <a:latin typeface="Georgia"/>
                <a:ea typeface="Georgia"/>
                <a:cs typeface="Georgia"/>
                <a:sym typeface="Georgia"/>
              </a:rPr>
              <a:t>Presentation-ready version</a:t>
            </a:r>
            <a:endParaRPr b="1" sz="18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Exploratory data analysis results:</a:t>
            </a:r>
            <a:r>
              <a:rPr lang="en-US" sz="1200">
                <a:solidFill>
                  <a:schemeClr val="dk1"/>
                </a:solidFill>
                <a:latin typeface="Georgia"/>
                <a:ea typeface="Georgia"/>
                <a:cs typeface="Georgia"/>
                <a:sym typeface="Georgia"/>
              </a:rPr>
              <a:t> launch success depends on launch site, orbit type, and payload mass; unique launch sites and landing outcome counts confirm strong structure in the data.</a:t>
            </a:r>
            <a:endParaRPr sz="12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Interactive analytics demo in screenshots:</a:t>
            </a:r>
            <a:r>
              <a:rPr lang="en-US" sz="1200">
                <a:solidFill>
                  <a:schemeClr val="dk1"/>
                </a:solidFill>
                <a:latin typeface="Georgia"/>
                <a:ea typeface="Georgia"/>
                <a:cs typeface="Georgia"/>
                <a:sym typeface="Georgia"/>
              </a:rPr>
              <a:t> Folium maps, labeled launch sites, success/failure markers, and a Dash dashboard with dropdowns and sliders show the data interactively.</a:t>
            </a:r>
            <a:endParaRPr sz="1200">
              <a:solidFill>
                <a:schemeClr val="dk1"/>
              </a:solidFill>
              <a:latin typeface="Georgia"/>
              <a:ea typeface="Georgia"/>
              <a:cs typeface="Georgia"/>
              <a:sym typeface="Georgia"/>
            </a:endParaRPr>
          </a:p>
          <a:p>
            <a:pPr indent="-287655" lvl="0" marL="762000" marR="304800" rtl="0" algn="l">
              <a:lnSpc>
                <a:spcPct val="115000"/>
              </a:lnSpc>
              <a:spcBef>
                <a:spcPts val="0"/>
              </a:spcBef>
              <a:spcAft>
                <a:spcPts val="0"/>
              </a:spcAft>
              <a:buClr>
                <a:schemeClr val="dk1"/>
              </a:buClr>
              <a:buSzPct val="100000"/>
              <a:buFont typeface="Georgia"/>
              <a:buChar char="●"/>
            </a:pPr>
            <a:r>
              <a:rPr b="1" lang="en-US" sz="1200">
                <a:solidFill>
                  <a:schemeClr val="dk1"/>
                </a:solidFill>
                <a:latin typeface="Georgia"/>
                <a:ea typeface="Georgia"/>
                <a:cs typeface="Georgia"/>
                <a:sym typeface="Georgia"/>
              </a:rPr>
              <a:t>Predictive analysis results:</a:t>
            </a:r>
            <a:r>
              <a:rPr lang="en-US" sz="1200">
                <a:solidFill>
                  <a:schemeClr val="dk1"/>
                </a:solidFill>
                <a:latin typeface="Georgia"/>
                <a:ea typeface="Georgia"/>
                <a:cs typeface="Georgia"/>
                <a:sym typeface="Georgia"/>
              </a:rPr>
              <a:t> after scaling and hyperparameter tuning, the decision tree was the best classifier among the tested models.</a:t>
            </a:r>
            <a:endParaRPr sz="1200">
              <a:solidFill>
                <a:schemeClr val="dk1"/>
              </a:solidFill>
              <a:latin typeface="Georgia"/>
              <a:ea typeface="Georgia"/>
              <a:cs typeface="Georgia"/>
              <a:sym typeface="Georgia"/>
            </a:endParaRPr>
          </a:p>
          <a:p>
            <a:pPr indent="0" lvl="0" marL="0" rtl="0" algn="l">
              <a:lnSpc>
                <a:spcPct val="115000"/>
              </a:lnSpc>
              <a:spcBef>
                <a:spcPts val="0"/>
              </a:spcBef>
              <a:spcAft>
                <a:spcPts val="0"/>
              </a:spcAft>
              <a:buNone/>
            </a:pPr>
            <a:r>
              <a:t/>
            </a:r>
            <a:endParaRPr sz="1100">
              <a:solidFill>
                <a:schemeClr val="dk1"/>
              </a:solidFill>
            </a:endParaRPr>
          </a:p>
          <a:p>
            <a:pPr indent="-197168" lvl="0" marL="228600" marR="0" rtl="0" algn="l">
              <a:lnSpc>
                <a:spcPct val="100000"/>
              </a:lnSpc>
              <a:spcBef>
                <a:spcPts val="1400"/>
              </a:spcBef>
              <a:spcAft>
                <a:spcPts val="0"/>
              </a:spcAft>
              <a:buClr>
                <a:srgbClr val="292929"/>
              </a:buClr>
              <a:buSzPct val="100000"/>
              <a:buChar char="•"/>
            </a:pPr>
            <a:r>
              <a:t/>
            </a:r>
            <a:endParaRPr sz="2200">
              <a:solidFill>
                <a:srgbClr val="292929"/>
              </a:solidFill>
            </a:endParaRPr>
          </a:p>
          <a:p>
            <a:pPr indent="-114300" lvl="1" marL="685800" marR="0" rtl="0" algn="l">
              <a:lnSpc>
                <a:spcPct val="90000"/>
              </a:lnSpc>
              <a:spcBef>
                <a:spcPts val="500"/>
              </a:spcBef>
              <a:spcAft>
                <a:spcPts val="0"/>
              </a:spcAft>
              <a:buClr>
                <a:srgbClr val="0070C0"/>
              </a:buClr>
              <a:buSzPct val="100000"/>
              <a:buFont typeface="Arial"/>
              <a:buNone/>
            </a:pPr>
            <a:r>
              <a:t/>
            </a:r>
            <a:endParaRPr b="0" i="0" sz="1800" u="none" cap="none" strike="noStrike">
              <a:solidFill>
                <a:srgbClr val="0070C0"/>
              </a:solidFill>
              <a:latin typeface="IBM Plex Mono"/>
              <a:ea typeface="IBM Plex Mono"/>
              <a:cs typeface="IBM Plex Mono"/>
              <a:sym typeface="IBM Plex Mono"/>
            </a:endParaRPr>
          </a:p>
          <a:p>
            <a:pPr indent="0" lvl="1" marL="457200" marR="0" rtl="0" algn="l">
              <a:lnSpc>
                <a:spcPct val="90000"/>
              </a:lnSpc>
              <a:spcBef>
                <a:spcPts val="500"/>
              </a:spcBef>
              <a:spcAft>
                <a:spcPts val="0"/>
              </a:spcAft>
              <a:buClr>
                <a:srgbClr val="0070C0"/>
              </a:buClr>
              <a:buSzPct val="100000"/>
              <a:buFont typeface="Arial"/>
              <a:buNone/>
            </a:pPr>
            <a:r>
              <a:t/>
            </a:r>
            <a:endParaRPr b="0" i="0" sz="1800" u="none" cap="none" strike="noStrike">
              <a:solidFill>
                <a:srgbClr val="0070C0"/>
              </a:solidFill>
              <a:latin typeface="IBM Plex Mono"/>
              <a:ea typeface="IBM Plex Mono"/>
              <a:cs typeface="IBM Plex Mono"/>
              <a:sym typeface="IBM Plex Mono"/>
            </a:endParaRPr>
          </a:p>
        </p:txBody>
      </p:sp>
      <p:sp>
        <p:nvSpPr>
          <p:cNvPr id="213" name="Google Shape;213;p16"/>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4" name="Google Shape;214;p16"/>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Results</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sp>
        <p:nvSpPr>
          <p:cNvPr id="219" name="Google Shape;219;p17"/>
          <p:cNvSpPr txBox="1"/>
          <p:nvPr/>
        </p:nvSpPr>
        <p:spPr>
          <a:xfrm>
            <a:off x="797970" y="2529746"/>
            <a:ext cx="1058303" cy="369332"/>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Section 2</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18"/>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5" name="Google Shape;225;p18"/>
          <p:cNvSpPr txBox="1"/>
          <p:nvPr>
            <p:ph idx="1" type="body"/>
          </p:nvPr>
        </p:nvSpPr>
        <p:spPr>
          <a:xfrm>
            <a:off x="943300" y="3862200"/>
            <a:ext cx="10021800" cy="2845800"/>
          </a:xfrm>
          <a:prstGeom prst="rect">
            <a:avLst/>
          </a:prstGeom>
          <a:noFill/>
          <a:ln>
            <a:noFill/>
          </a:ln>
        </p:spPr>
        <p:txBody>
          <a:bodyPr anchorCtr="0" anchor="t" bIns="45700" lIns="91425" spcFirstLastPara="1" rIns="91425" wrap="square" tIns="45700">
            <a:normAutofit/>
          </a:bodyPr>
          <a:lstStyle/>
          <a:p>
            <a:pPr indent="-368300" lvl="0" marL="457200" rtl="0" algn="l">
              <a:spcBef>
                <a:spcPts val="1400"/>
              </a:spcBef>
              <a:spcAft>
                <a:spcPts val="0"/>
              </a:spcAft>
              <a:buClr>
                <a:srgbClr val="292929"/>
              </a:buClr>
              <a:buSzPts val="2200"/>
              <a:buChar char="•"/>
            </a:pPr>
            <a:r>
              <a:rPr lang="en-US" sz="2200">
                <a:solidFill>
                  <a:srgbClr val="292929"/>
                </a:solidFill>
              </a:rPr>
              <a:t>Cape Canaveral, SLC 40</a:t>
            </a:r>
            <a:endParaRPr sz="2200">
              <a:solidFill>
                <a:srgbClr val="292929"/>
              </a:solidFill>
            </a:endParaRPr>
          </a:p>
          <a:p>
            <a:pPr indent="-368300" lvl="0" marL="457200" rtl="0" algn="l">
              <a:spcBef>
                <a:spcPts val="1400"/>
              </a:spcBef>
              <a:spcAft>
                <a:spcPts val="0"/>
              </a:spcAft>
              <a:buClr>
                <a:srgbClr val="292929"/>
              </a:buClr>
              <a:buSzPts val="2200"/>
              <a:buChar char="•"/>
            </a:pPr>
            <a:r>
              <a:rPr lang="en-US" sz="2200">
                <a:solidFill>
                  <a:srgbClr val="292929"/>
                </a:solidFill>
              </a:rPr>
              <a:t>Kennedy, LC-39A</a:t>
            </a:r>
            <a:endParaRPr sz="2200">
              <a:solidFill>
                <a:srgbClr val="292929"/>
              </a:solidFill>
            </a:endParaRPr>
          </a:p>
          <a:p>
            <a:pPr indent="-368300" lvl="0" marL="457200" rtl="0" algn="l">
              <a:spcBef>
                <a:spcPts val="1400"/>
              </a:spcBef>
              <a:spcAft>
                <a:spcPts val="0"/>
              </a:spcAft>
              <a:buClr>
                <a:srgbClr val="292929"/>
              </a:buClr>
              <a:buSzPts val="2200"/>
              <a:buChar char="•"/>
            </a:pPr>
            <a:r>
              <a:rPr lang="en-US" sz="2200">
                <a:solidFill>
                  <a:srgbClr val="292929"/>
                </a:solidFill>
              </a:rPr>
              <a:t>Vandenberg, SLC-4E</a:t>
            </a:r>
            <a:endParaRPr sz="2200">
              <a:solidFill>
                <a:srgbClr val="292929"/>
              </a:solidFill>
            </a:endParaRPr>
          </a:p>
          <a:p>
            <a:pPr indent="0" lvl="0" marL="0" rtl="0" algn="l">
              <a:spcBef>
                <a:spcPts val="1400"/>
              </a:spcBef>
              <a:spcAft>
                <a:spcPts val="0"/>
              </a:spcAft>
              <a:buNone/>
            </a:pPr>
            <a:r>
              <a:rPr lang="en-US" sz="2200">
                <a:solidFill>
                  <a:srgbClr val="292929"/>
                </a:solidFill>
              </a:rPr>
              <a:t>Higher Flight Number means more lessons learned and improvements for safe flights</a:t>
            </a:r>
            <a:endParaRPr sz="2200">
              <a:solidFill>
                <a:srgbClr val="292929"/>
              </a:solidFill>
            </a:endParaRPr>
          </a:p>
        </p:txBody>
      </p:sp>
      <p:sp>
        <p:nvSpPr>
          <p:cNvPr id="226" name="Google Shape;226;p18"/>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Flight Number vs. Launch Site</a:t>
            </a:r>
            <a:endParaRPr sz="4000">
              <a:solidFill>
                <a:srgbClr val="0B49CB"/>
              </a:solidFill>
              <a:latin typeface="IBM Plex Mono SemiBold"/>
              <a:ea typeface="IBM Plex Mono SemiBold"/>
              <a:cs typeface="IBM Plex Mono SemiBold"/>
              <a:sym typeface="IBM Plex Mono SemiBold"/>
            </a:endParaRPr>
          </a:p>
        </p:txBody>
      </p:sp>
      <p:pic>
        <p:nvPicPr>
          <p:cNvPr id="227" name="Google Shape;227;p18"/>
          <p:cNvPicPr preferRelativeResize="0"/>
          <p:nvPr/>
        </p:nvPicPr>
        <p:blipFill>
          <a:blip r:embed="rId4">
            <a:alphaModFix/>
          </a:blip>
          <a:stretch>
            <a:fillRect/>
          </a:stretch>
        </p:blipFill>
        <p:spPr>
          <a:xfrm>
            <a:off x="156175" y="1311425"/>
            <a:ext cx="11743252" cy="2485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 name="Shape 231"/>
        <p:cNvGrpSpPr/>
        <p:nvPr/>
      </p:nvGrpSpPr>
      <p:grpSpPr>
        <a:xfrm>
          <a:off x="0" y="0"/>
          <a:ext cx="0" cy="0"/>
          <a:chOff x="0" y="0"/>
          <a:chExt cx="0" cy="0"/>
        </a:xfrm>
      </p:grpSpPr>
      <p:sp>
        <p:nvSpPr>
          <p:cNvPr id="232" name="Google Shape;232;p19"/>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3" name="Google Shape;233;p19"/>
          <p:cNvSpPr txBox="1"/>
          <p:nvPr>
            <p:ph idx="1" type="body"/>
          </p:nvPr>
        </p:nvSpPr>
        <p:spPr>
          <a:xfrm>
            <a:off x="445525" y="3937900"/>
            <a:ext cx="11403300" cy="18960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Higher Flight Number indicates in general possible higher payloads</a:t>
            </a:r>
            <a:endParaRPr/>
          </a:p>
        </p:txBody>
      </p:sp>
      <p:sp>
        <p:nvSpPr>
          <p:cNvPr id="234" name="Google Shape;234;p19"/>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Payload vs. Launch Site</a:t>
            </a:r>
            <a:endParaRPr/>
          </a:p>
        </p:txBody>
      </p:sp>
      <p:pic>
        <p:nvPicPr>
          <p:cNvPr id="235" name="Google Shape;235;p19"/>
          <p:cNvPicPr preferRelativeResize="0"/>
          <p:nvPr/>
        </p:nvPicPr>
        <p:blipFill>
          <a:blip r:embed="rId4">
            <a:alphaModFix/>
          </a:blip>
          <a:stretch>
            <a:fillRect/>
          </a:stretch>
        </p:blipFill>
        <p:spPr>
          <a:xfrm>
            <a:off x="152400" y="1430299"/>
            <a:ext cx="11887201" cy="23159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0"/>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1" name="Google Shape;241;p20"/>
          <p:cNvSpPr txBox="1"/>
          <p:nvPr>
            <p:ph idx="1" type="body"/>
          </p:nvPr>
        </p:nvSpPr>
        <p:spPr>
          <a:xfrm>
            <a:off x="770011" y="2082114"/>
            <a:ext cx="3932238" cy="381158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Oribts with 100% success rate:</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ES-L1</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GEO</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HEO</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rPr lang="en-US" sz="2200">
                <a:solidFill>
                  <a:srgbClr val="292929"/>
                </a:solidFill>
              </a:rPr>
              <a:t>SSO</a:t>
            </a:r>
            <a:endParaRPr sz="2200">
              <a:solidFill>
                <a:srgbClr val="292929"/>
              </a:solidFill>
            </a:endParaRPr>
          </a:p>
          <a:p>
            <a:pPr indent="-368300" lvl="1" marL="914400" marR="0" rtl="0" algn="l">
              <a:lnSpc>
                <a:spcPct val="100000"/>
              </a:lnSpc>
              <a:spcBef>
                <a:spcPts val="1400"/>
              </a:spcBef>
              <a:spcAft>
                <a:spcPts val="0"/>
              </a:spcAft>
              <a:buClr>
                <a:srgbClr val="292929"/>
              </a:buClr>
              <a:buSzPts val="2200"/>
              <a:buChar char="○"/>
            </a:pPr>
            <a:r>
              <a:t/>
            </a:r>
            <a:endParaRPr sz="2200">
              <a:solidFill>
                <a:srgbClr val="292929"/>
              </a:solidFill>
            </a:endParaRPr>
          </a:p>
        </p:txBody>
      </p:sp>
      <p:sp>
        <p:nvSpPr>
          <p:cNvPr id="242" name="Google Shape;242;p20"/>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Success Rate vs. Orbit Type</a:t>
            </a:r>
            <a:endParaRPr sz="4000">
              <a:solidFill>
                <a:srgbClr val="0B49CB"/>
              </a:solidFill>
              <a:latin typeface="IBM Plex Mono SemiBold"/>
              <a:ea typeface="IBM Plex Mono SemiBold"/>
              <a:cs typeface="IBM Plex Mono SemiBold"/>
              <a:sym typeface="IBM Plex Mono SemiBold"/>
            </a:endParaRPr>
          </a:p>
        </p:txBody>
      </p:sp>
      <p:pic>
        <p:nvPicPr>
          <p:cNvPr id="243" name="Google Shape;243;p20"/>
          <p:cNvPicPr preferRelativeResize="0"/>
          <p:nvPr/>
        </p:nvPicPr>
        <p:blipFill>
          <a:blip r:embed="rId4">
            <a:alphaModFix/>
          </a:blip>
          <a:stretch>
            <a:fillRect/>
          </a:stretch>
        </p:blipFill>
        <p:spPr>
          <a:xfrm>
            <a:off x="5179074" y="1508599"/>
            <a:ext cx="6015023" cy="46330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7" name="Shape 247"/>
        <p:cNvGrpSpPr/>
        <p:nvPr/>
      </p:nvGrpSpPr>
      <p:grpSpPr>
        <a:xfrm>
          <a:off x="0" y="0"/>
          <a:ext cx="0" cy="0"/>
          <a:chOff x="0" y="0"/>
          <a:chExt cx="0" cy="0"/>
        </a:xfrm>
      </p:grpSpPr>
      <p:sp>
        <p:nvSpPr>
          <p:cNvPr id="248" name="Google Shape;248;p21"/>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9" name="Google Shape;249;p21"/>
          <p:cNvSpPr txBox="1"/>
          <p:nvPr>
            <p:ph idx="1" type="body"/>
          </p:nvPr>
        </p:nvSpPr>
        <p:spPr>
          <a:xfrm>
            <a:off x="770011" y="2069756"/>
            <a:ext cx="3932238" cy="381158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LEO/ ISS/ PO/ GTO/ ES-L1 beginning with lower Flight Numbers</a:t>
            </a:r>
            <a:endParaRPr sz="2200">
              <a:solidFill>
                <a:srgbClr val="292929"/>
              </a:solidFill>
            </a:endParaRPr>
          </a:p>
          <a:p>
            <a:pPr indent="-228600" lvl="0" marL="228600" marR="0" rtl="0" algn="l">
              <a:lnSpc>
                <a:spcPct val="100000"/>
              </a:lnSpc>
              <a:spcBef>
                <a:spcPts val="1400"/>
              </a:spcBef>
              <a:spcAft>
                <a:spcPts val="0"/>
              </a:spcAft>
              <a:buClr>
                <a:srgbClr val="292929"/>
              </a:buClr>
              <a:buSzPts val="2200"/>
              <a:buChar char="•"/>
            </a:pPr>
            <a:r>
              <a:rPr lang="en-US" sz="2200">
                <a:solidFill>
                  <a:srgbClr val="292929"/>
                </a:solidFill>
              </a:rPr>
              <a:t>GEO/ SO/ VLEO/ MEO/ HE starting with Flight Numbers &gt; #35</a:t>
            </a:r>
            <a:endParaRPr sz="2200">
              <a:solidFill>
                <a:srgbClr val="292929"/>
              </a:solidFill>
            </a:endParaRPr>
          </a:p>
          <a:p>
            <a:pPr indent="-228600" lvl="0" marL="228600" marR="0" rtl="0" algn="l">
              <a:lnSpc>
                <a:spcPct val="100000"/>
              </a:lnSpc>
              <a:spcBef>
                <a:spcPts val="1400"/>
              </a:spcBef>
              <a:spcAft>
                <a:spcPts val="0"/>
              </a:spcAft>
              <a:buClr>
                <a:srgbClr val="292929"/>
              </a:buClr>
              <a:buSzPts val="2200"/>
              <a:buChar char="•"/>
            </a:pPr>
            <a:r>
              <a:t/>
            </a:r>
            <a:endParaRPr sz="2200">
              <a:solidFill>
                <a:srgbClr val="292929"/>
              </a:solidFill>
            </a:endParaRPr>
          </a:p>
        </p:txBody>
      </p:sp>
      <p:sp>
        <p:nvSpPr>
          <p:cNvPr id="250" name="Google Shape;250;p21"/>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Flight Number vs. Orbit Type</a:t>
            </a:r>
            <a:endParaRPr sz="4000">
              <a:solidFill>
                <a:srgbClr val="0B49CB"/>
              </a:solidFill>
              <a:latin typeface="IBM Plex Mono SemiBold"/>
              <a:ea typeface="IBM Plex Mono SemiBold"/>
              <a:cs typeface="IBM Plex Mono SemiBold"/>
              <a:sym typeface="IBM Plex Mono SemiBold"/>
            </a:endParaRPr>
          </a:p>
        </p:txBody>
      </p:sp>
      <p:pic>
        <p:nvPicPr>
          <p:cNvPr id="251" name="Google Shape;251;p21"/>
          <p:cNvPicPr preferRelativeResize="0"/>
          <p:nvPr/>
        </p:nvPicPr>
        <p:blipFill>
          <a:blip r:embed="rId4">
            <a:alphaModFix/>
          </a:blip>
          <a:stretch>
            <a:fillRect/>
          </a:stretch>
        </p:blipFill>
        <p:spPr>
          <a:xfrm>
            <a:off x="4702249" y="1680374"/>
            <a:ext cx="7184951" cy="34972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p22"/>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7" name="Google Shape;257;p22"/>
          <p:cNvSpPr txBox="1"/>
          <p:nvPr>
            <p:ph idx="1" type="body"/>
          </p:nvPr>
        </p:nvSpPr>
        <p:spPr>
          <a:xfrm>
            <a:off x="770011" y="2057400"/>
            <a:ext cx="3932238" cy="381158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&gt;8000kg Payload Mass only PO/ ISS/ VLEO Orbits are the destinations for SpaceX </a:t>
            </a:r>
            <a:endParaRPr/>
          </a:p>
        </p:txBody>
      </p:sp>
      <p:sp>
        <p:nvSpPr>
          <p:cNvPr id="258" name="Google Shape;258;p22"/>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Payload vs. Orbit Type</a:t>
            </a:r>
            <a:endParaRPr sz="4000">
              <a:solidFill>
                <a:srgbClr val="0B49CB"/>
              </a:solidFill>
              <a:latin typeface="IBM Plex Mono SemiBold"/>
              <a:ea typeface="IBM Plex Mono SemiBold"/>
              <a:cs typeface="IBM Plex Mono SemiBold"/>
              <a:sym typeface="IBM Plex Mono SemiBold"/>
            </a:endParaRPr>
          </a:p>
        </p:txBody>
      </p:sp>
      <p:pic>
        <p:nvPicPr>
          <p:cNvPr id="259" name="Google Shape;259;p22"/>
          <p:cNvPicPr preferRelativeResize="0"/>
          <p:nvPr/>
        </p:nvPicPr>
        <p:blipFill>
          <a:blip r:embed="rId4">
            <a:alphaModFix/>
          </a:blip>
          <a:stretch>
            <a:fillRect/>
          </a:stretch>
        </p:blipFill>
        <p:spPr>
          <a:xfrm>
            <a:off x="4832274" y="1967299"/>
            <a:ext cx="7184952" cy="351670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
        <p:nvSpPr>
          <p:cNvPr id="264" name="Google Shape;264;p23"/>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5" name="Google Shape;265;p23"/>
          <p:cNvSpPr txBox="1"/>
          <p:nvPr>
            <p:ph idx="1" type="body"/>
          </p:nvPr>
        </p:nvSpPr>
        <p:spPr>
          <a:xfrm>
            <a:off x="770011" y="2069757"/>
            <a:ext cx="3932238" cy="381158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more years of launching SpaceX means a higher average success rate</a:t>
            </a:r>
            <a:endParaRPr/>
          </a:p>
        </p:txBody>
      </p:sp>
      <p:sp>
        <p:nvSpPr>
          <p:cNvPr id="266" name="Google Shape;266;p23"/>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Launch Success Yearly Trend</a:t>
            </a:r>
            <a:endParaRPr/>
          </a:p>
        </p:txBody>
      </p:sp>
      <p:pic>
        <p:nvPicPr>
          <p:cNvPr id="267" name="Google Shape;267;p23"/>
          <p:cNvPicPr preferRelativeResize="0"/>
          <p:nvPr/>
        </p:nvPicPr>
        <p:blipFill>
          <a:blip r:embed="rId4">
            <a:alphaModFix/>
          </a:blip>
          <a:stretch>
            <a:fillRect/>
          </a:stretch>
        </p:blipFill>
        <p:spPr>
          <a:xfrm>
            <a:off x="4798699" y="1811749"/>
            <a:ext cx="7184952" cy="42138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1" name="Shape 271"/>
        <p:cNvGrpSpPr/>
        <p:nvPr/>
      </p:nvGrpSpPr>
      <p:grpSpPr>
        <a:xfrm>
          <a:off x="0" y="0"/>
          <a:ext cx="0" cy="0"/>
          <a:chOff x="0" y="0"/>
          <a:chExt cx="0" cy="0"/>
        </a:xfrm>
      </p:grpSpPr>
      <p:sp>
        <p:nvSpPr>
          <p:cNvPr id="272" name="Google Shape;272;p24"/>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3" name="Google Shape;273;p24"/>
          <p:cNvSpPr txBox="1"/>
          <p:nvPr>
            <p:ph idx="1" type="body"/>
          </p:nvPr>
        </p:nvSpPr>
        <p:spPr>
          <a:xfrm>
            <a:off x="770010" y="1825625"/>
            <a:ext cx="9745500" cy="43512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1400"/>
              </a:spcBef>
              <a:spcAft>
                <a:spcPts val="0"/>
              </a:spcAft>
              <a:buNone/>
            </a:pPr>
            <a:r>
              <a:rPr lang="en-US" sz="1550">
                <a:solidFill>
                  <a:schemeClr val="dk1"/>
                </a:solidFill>
                <a:highlight>
                  <a:srgbClr val="FFFFFF"/>
                </a:highlight>
              </a:rPr>
              <a:t>Space X launch facilities: </a:t>
            </a:r>
            <a:r>
              <a:rPr lang="en-US" sz="1550">
                <a:solidFill>
                  <a:srgbClr val="0D47A1"/>
                </a:solidFill>
                <a:highlight>
                  <a:srgbClr val="FFFFFF"/>
                </a:highlight>
                <a:uFill>
                  <a:noFill/>
                </a:uFill>
                <a:hlinkClick r:id="rId4">
                  <a:extLst>
                    <a:ext uri="{A12FA001-AC4F-418D-AE19-62706E023703}">
                      <ahyp:hlinkClr val="tx"/>
                    </a:ext>
                  </a:extLst>
                </a:hlinkClick>
              </a:rPr>
              <a:t>Cape Canaveral Space</a:t>
            </a:r>
            <a:r>
              <a:rPr lang="en-US" sz="1550">
                <a:solidFill>
                  <a:schemeClr val="dk1"/>
                </a:solidFill>
                <a:highlight>
                  <a:srgbClr val="FFFFFF"/>
                </a:highlight>
              </a:rPr>
              <a:t> Launch Complex 40 </a:t>
            </a:r>
            <a:r>
              <a:rPr b="1" lang="en-US" sz="1550">
                <a:solidFill>
                  <a:schemeClr val="dk1"/>
                </a:solidFill>
                <a:highlight>
                  <a:srgbClr val="FFFFFF"/>
                </a:highlight>
              </a:rPr>
              <a:t>VAFB SLC 4E </a:t>
            </a:r>
            <a:r>
              <a:rPr lang="en-US" sz="1550">
                <a:solidFill>
                  <a:schemeClr val="dk1"/>
                </a:solidFill>
                <a:highlight>
                  <a:srgbClr val="FFFFFF"/>
                </a:highlight>
              </a:rPr>
              <a:t>, Vandenberg Air Force Base Space Launch Complex 4E </a:t>
            </a:r>
            <a:r>
              <a:rPr b="1" lang="en-US" sz="1550">
                <a:solidFill>
                  <a:schemeClr val="dk1"/>
                </a:solidFill>
                <a:highlight>
                  <a:srgbClr val="FFFFFF"/>
                </a:highlight>
              </a:rPr>
              <a:t>(SLC-4E)</a:t>
            </a:r>
            <a:r>
              <a:rPr lang="en-US" sz="1550">
                <a:solidFill>
                  <a:schemeClr val="dk1"/>
                </a:solidFill>
                <a:highlight>
                  <a:srgbClr val="FFFFFF"/>
                </a:highlight>
              </a:rPr>
              <a:t>, Kennedy Space Center Launch Complex 39A </a:t>
            </a:r>
            <a:r>
              <a:rPr b="1" lang="en-US" sz="1550">
                <a:solidFill>
                  <a:schemeClr val="dk1"/>
                </a:solidFill>
                <a:highlight>
                  <a:srgbClr val="FFFFFF"/>
                </a:highlight>
              </a:rPr>
              <a:t>KSC LC 39A </a:t>
            </a:r>
            <a:r>
              <a:rPr lang="en-US" sz="1550">
                <a:solidFill>
                  <a:schemeClr val="dk1"/>
                </a:solidFill>
                <a:highlight>
                  <a:srgbClr val="FFFFFF"/>
                </a:highlight>
              </a:rPr>
              <a:t>.The location of each Launch Is placed in the column</a:t>
            </a:r>
            <a:r>
              <a:rPr lang="en-US" sz="1600">
                <a:solidFill>
                  <a:schemeClr val="dk1"/>
                </a:solidFill>
              </a:rPr>
              <a:t> </a:t>
            </a:r>
            <a:endParaRPr sz="1900"/>
          </a:p>
        </p:txBody>
      </p:sp>
      <p:sp>
        <p:nvSpPr>
          <p:cNvPr id="274" name="Google Shape;274;p24"/>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All Launch Site Names</a:t>
            </a:r>
            <a:endParaRPr/>
          </a:p>
        </p:txBody>
      </p:sp>
      <p:pic>
        <p:nvPicPr>
          <p:cNvPr id="275" name="Google Shape;275;p24"/>
          <p:cNvPicPr preferRelativeResize="0"/>
          <p:nvPr/>
        </p:nvPicPr>
        <p:blipFill>
          <a:blip r:embed="rId5">
            <a:alphaModFix/>
          </a:blip>
          <a:stretch>
            <a:fillRect/>
          </a:stretch>
        </p:blipFill>
        <p:spPr>
          <a:xfrm>
            <a:off x="4465700" y="2974713"/>
            <a:ext cx="3124200" cy="17811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9" name="Shape 279"/>
        <p:cNvGrpSpPr/>
        <p:nvPr/>
      </p:nvGrpSpPr>
      <p:grpSpPr>
        <a:xfrm>
          <a:off x="0" y="0"/>
          <a:ext cx="0" cy="0"/>
          <a:chOff x="0" y="0"/>
          <a:chExt cx="0" cy="0"/>
        </a:xfrm>
      </p:grpSpPr>
      <p:sp>
        <p:nvSpPr>
          <p:cNvPr id="280" name="Google Shape;280;p25"/>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1" name="Google Shape;281;p25"/>
          <p:cNvSpPr txBox="1"/>
          <p:nvPr>
            <p:ph idx="1" type="body"/>
          </p:nvPr>
        </p:nvSpPr>
        <p:spPr>
          <a:xfrm>
            <a:off x="770000" y="3783900"/>
            <a:ext cx="9745500" cy="8727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Flight Numbers 0/1/2/4/5 starts with the Names ‘CCA’ </a:t>
            </a:r>
            <a:endParaRPr/>
          </a:p>
        </p:txBody>
      </p:sp>
      <p:sp>
        <p:nvSpPr>
          <p:cNvPr id="282" name="Google Shape;282;p25"/>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Launch Site Names Begin with 'CCA'</a:t>
            </a:r>
            <a:endParaRPr/>
          </a:p>
        </p:txBody>
      </p:sp>
      <p:pic>
        <p:nvPicPr>
          <p:cNvPr id="283" name="Google Shape;283;p25"/>
          <p:cNvPicPr preferRelativeResize="0"/>
          <p:nvPr/>
        </p:nvPicPr>
        <p:blipFill>
          <a:blip r:embed="rId4">
            <a:alphaModFix/>
          </a:blip>
          <a:stretch>
            <a:fillRect/>
          </a:stretch>
        </p:blipFill>
        <p:spPr>
          <a:xfrm>
            <a:off x="0" y="1362699"/>
            <a:ext cx="12191999" cy="2066301"/>
          </a:xfrm>
          <a:prstGeom prst="rect">
            <a:avLst/>
          </a:prstGeom>
          <a:noFill/>
          <a:ln>
            <a:noFill/>
          </a:ln>
        </p:spPr>
      </p:pic>
      <p:pic>
        <p:nvPicPr>
          <p:cNvPr id="284" name="Google Shape;284;p25"/>
          <p:cNvPicPr preferRelativeResize="0"/>
          <p:nvPr/>
        </p:nvPicPr>
        <p:blipFill>
          <a:blip r:embed="rId5">
            <a:alphaModFix/>
          </a:blip>
          <a:stretch>
            <a:fillRect/>
          </a:stretch>
        </p:blipFill>
        <p:spPr>
          <a:xfrm>
            <a:off x="3151886" y="4203375"/>
            <a:ext cx="4981724" cy="1333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8" name="Shape 288"/>
        <p:cNvGrpSpPr/>
        <p:nvPr/>
      </p:nvGrpSpPr>
      <p:grpSpPr>
        <a:xfrm>
          <a:off x="0" y="0"/>
          <a:ext cx="0" cy="0"/>
          <a:chOff x="0" y="0"/>
          <a:chExt cx="0" cy="0"/>
        </a:xfrm>
      </p:grpSpPr>
      <p:sp>
        <p:nvSpPr>
          <p:cNvPr id="289" name="Google Shape;289;p26"/>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0" name="Google Shape;290;p26"/>
          <p:cNvSpPr txBox="1"/>
          <p:nvPr>
            <p:ph idx="1" type="body"/>
          </p:nvPr>
        </p:nvSpPr>
        <p:spPr>
          <a:xfrm>
            <a:off x="949175" y="4909875"/>
            <a:ext cx="9745500" cy="11157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Total Payload Mass Space X = 619967 kg</a:t>
            </a:r>
            <a:endParaRPr/>
          </a:p>
        </p:txBody>
      </p:sp>
      <p:sp>
        <p:nvSpPr>
          <p:cNvPr id="291" name="Google Shape;291;p26"/>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Total Payload Mass</a:t>
            </a:r>
            <a:endParaRPr/>
          </a:p>
        </p:txBody>
      </p:sp>
      <p:pic>
        <p:nvPicPr>
          <p:cNvPr id="292" name="Google Shape;292;p26"/>
          <p:cNvPicPr preferRelativeResize="0"/>
          <p:nvPr/>
        </p:nvPicPr>
        <p:blipFill>
          <a:blip r:embed="rId4">
            <a:alphaModFix/>
          </a:blip>
          <a:stretch>
            <a:fillRect/>
          </a:stretch>
        </p:blipFill>
        <p:spPr>
          <a:xfrm>
            <a:off x="2510075" y="1721049"/>
            <a:ext cx="4400550" cy="1447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p27"/>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8" name="Google Shape;298;p27"/>
          <p:cNvSpPr txBox="1"/>
          <p:nvPr>
            <p:ph idx="1" type="body"/>
          </p:nvPr>
        </p:nvSpPr>
        <p:spPr>
          <a:xfrm>
            <a:off x="770010" y="1825625"/>
            <a:ext cx="9745589"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latin typeface="Arial"/>
                <a:ea typeface="Arial"/>
                <a:cs typeface="Arial"/>
                <a:sym typeface="Arial"/>
              </a:rPr>
              <a:t>average payload mass carried by booster version F9 v1.1:</a:t>
            </a:r>
            <a:endParaRPr/>
          </a:p>
          <a:p>
            <a:pPr indent="0" lvl="0" marL="0" rtl="0" algn="l">
              <a:lnSpc>
                <a:spcPct val="115000"/>
              </a:lnSpc>
              <a:spcBef>
                <a:spcPts val="0"/>
              </a:spcBef>
              <a:spcAft>
                <a:spcPts val="0"/>
              </a:spcAft>
              <a:buNone/>
            </a:pPr>
            <a:r>
              <a:rPr b="1" lang="en-US" sz="1000">
                <a:highlight>
                  <a:srgbClr val="FFFFFF"/>
                </a:highlight>
              </a:rPr>
              <a:t>avg("PAYLOAD_MASS__KG_"): </a:t>
            </a:r>
            <a:r>
              <a:rPr lang="en-US" sz="1000">
                <a:highlight>
                  <a:srgbClr val="FFFFFF"/>
                </a:highlight>
              </a:rPr>
              <a:t>2534.6666666666665kg acc. the database</a:t>
            </a:r>
            <a:endParaRPr sz="1000">
              <a:highlight>
                <a:srgbClr val="FFFFFF"/>
              </a:highlight>
            </a:endParaRPr>
          </a:p>
          <a:p>
            <a:pPr indent="0" lvl="0" marL="0" marR="0" rtl="0" algn="l">
              <a:lnSpc>
                <a:spcPct val="100000"/>
              </a:lnSpc>
              <a:spcBef>
                <a:spcPts val="1400"/>
              </a:spcBef>
              <a:spcAft>
                <a:spcPts val="0"/>
              </a:spcAft>
              <a:buNone/>
            </a:pPr>
            <a:r>
              <a:t/>
            </a:r>
            <a:endParaRPr sz="2200">
              <a:solidFill>
                <a:srgbClr val="292929"/>
              </a:solidFill>
            </a:endParaRPr>
          </a:p>
        </p:txBody>
      </p:sp>
      <p:sp>
        <p:nvSpPr>
          <p:cNvPr id="299" name="Google Shape;299;p27"/>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Average Payload Mass by F9 v1.1</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3" name="Shape 303"/>
        <p:cNvGrpSpPr/>
        <p:nvPr/>
      </p:nvGrpSpPr>
      <p:grpSpPr>
        <a:xfrm>
          <a:off x="0" y="0"/>
          <a:ext cx="0" cy="0"/>
          <a:chOff x="0" y="0"/>
          <a:chExt cx="0" cy="0"/>
        </a:xfrm>
      </p:grpSpPr>
      <p:sp>
        <p:nvSpPr>
          <p:cNvPr id="304" name="Google Shape;304;p28"/>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5" name="Google Shape;305;p28"/>
          <p:cNvSpPr txBox="1"/>
          <p:nvPr>
            <p:ph idx="1" type="body"/>
          </p:nvPr>
        </p:nvSpPr>
        <p:spPr>
          <a:xfrm>
            <a:off x="770010" y="1825625"/>
            <a:ext cx="9745589"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latin typeface="Arial"/>
                <a:ea typeface="Arial"/>
                <a:cs typeface="Arial"/>
                <a:sym typeface="Arial"/>
              </a:rPr>
              <a:t>Find the dates of the first successful landing outcome on ground pad</a:t>
            </a:r>
            <a:endParaRPr sz="2800">
              <a:solidFill>
                <a:srgbClr val="292929"/>
              </a:solidFill>
              <a:latin typeface="Calibri"/>
              <a:ea typeface="Calibri"/>
              <a:cs typeface="Calibri"/>
              <a:sym typeface="Calibri"/>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First successful Landing on ground pad at the 22th December 2015</a:t>
            </a:r>
            <a:endParaRPr/>
          </a:p>
        </p:txBody>
      </p:sp>
      <p:sp>
        <p:nvSpPr>
          <p:cNvPr id="306" name="Google Shape;306;p28"/>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First Successful Ground Landing Date</a:t>
            </a:r>
            <a:endParaRPr/>
          </a:p>
        </p:txBody>
      </p:sp>
      <p:pic>
        <p:nvPicPr>
          <p:cNvPr id="307" name="Google Shape;307;p28"/>
          <p:cNvPicPr preferRelativeResize="0"/>
          <p:nvPr/>
        </p:nvPicPr>
        <p:blipFill>
          <a:blip r:embed="rId4">
            <a:alphaModFix/>
          </a:blip>
          <a:stretch>
            <a:fillRect/>
          </a:stretch>
        </p:blipFill>
        <p:spPr>
          <a:xfrm>
            <a:off x="1633163" y="3491863"/>
            <a:ext cx="9001125" cy="15906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1" name="Shape 311"/>
        <p:cNvGrpSpPr/>
        <p:nvPr/>
      </p:nvGrpSpPr>
      <p:grpSpPr>
        <a:xfrm>
          <a:off x="0" y="0"/>
          <a:ext cx="0" cy="0"/>
          <a:chOff x="0" y="0"/>
          <a:chExt cx="0" cy="0"/>
        </a:xfrm>
      </p:grpSpPr>
      <p:sp>
        <p:nvSpPr>
          <p:cNvPr id="312" name="Google Shape;312;p29"/>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3" name="Google Shape;313;p29"/>
          <p:cNvSpPr txBox="1"/>
          <p:nvPr>
            <p:ph idx="1" type="body"/>
          </p:nvPr>
        </p:nvSpPr>
        <p:spPr>
          <a:xfrm>
            <a:off x="770000" y="4567192"/>
            <a:ext cx="9745500" cy="1609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a:t>Booster Version for </a:t>
            </a:r>
            <a:r>
              <a:rPr lang="en-US"/>
              <a:t>successful</a:t>
            </a:r>
            <a:r>
              <a:rPr lang="en-US"/>
              <a:t> Droneship landing</a:t>
            </a:r>
            <a:endParaRPr/>
          </a:p>
        </p:txBody>
      </p:sp>
      <p:sp>
        <p:nvSpPr>
          <p:cNvPr id="314" name="Google Shape;314;p29"/>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6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Successful Drone Ship Landing with Payload between 4000 and 6000</a:t>
            </a:r>
            <a:endParaRPr/>
          </a:p>
        </p:txBody>
      </p:sp>
      <p:pic>
        <p:nvPicPr>
          <p:cNvPr id="315" name="Google Shape;315;p29"/>
          <p:cNvPicPr preferRelativeResize="0"/>
          <p:nvPr/>
        </p:nvPicPr>
        <p:blipFill>
          <a:blip r:embed="rId4">
            <a:alphaModFix/>
          </a:blip>
          <a:stretch>
            <a:fillRect/>
          </a:stretch>
        </p:blipFill>
        <p:spPr>
          <a:xfrm>
            <a:off x="715075" y="1508051"/>
            <a:ext cx="10625451" cy="1983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9" name="Shape 319"/>
        <p:cNvGrpSpPr/>
        <p:nvPr/>
      </p:nvGrpSpPr>
      <p:grpSpPr>
        <a:xfrm>
          <a:off x="0" y="0"/>
          <a:ext cx="0" cy="0"/>
          <a:chOff x="0" y="0"/>
          <a:chExt cx="0" cy="0"/>
        </a:xfrm>
      </p:grpSpPr>
      <p:sp>
        <p:nvSpPr>
          <p:cNvPr id="320" name="Google Shape;320;p30"/>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1" name="Google Shape;321;p30"/>
          <p:cNvSpPr txBox="1"/>
          <p:nvPr>
            <p:ph idx="1" type="body"/>
          </p:nvPr>
        </p:nvSpPr>
        <p:spPr>
          <a:xfrm>
            <a:off x="770007" y="1825625"/>
            <a:ext cx="28335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a:t>SQL Querry Mission outcomes</a:t>
            </a:r>
            <a:endParaRPr/>
          </a:p>
        </p:txBody>
      </p:sp>
      <p:sp>
        <p:nvSpPr>
          <p:cNvPr id="322" name="Google Shape;322;p30"/>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77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Total Number of Successful and Failure Mission Outcomes</a:t>
            </a:r>
            <a:endParaRPr/>
          </a:p>
        </p:txBody>
      </p:sp>
      <p:pic>
        <p:nvPicPr>
          <p:cNvPr id="323" name="Google Shape;323;p30"/>
          <p:cNvPicPr preferRelativeResize="0"/>
          <p:nvPr/>
        </p:nvPicPr>
        <p:blipFill>
          <a:blip r:embed="rId4">
            <a:alphaModFix/>
          </a:blip>
          <a:stretch>
            <a:fillRect/>
          </a:stretch>
        </p:blipFill>
        <p:spPr>
          <a:xfrm>
            <a:off x="5538307" y="1825624"/>
            <a:ext cx="2247900" cy="981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7" name="Shape 327"/>
        <p:cNvGrpSpPr/>
        <p:nvPr/>
      </p:nvGrpSpPr>
      <p:grpSpPr>
        <a:xfrm>
          <a:off x="0" y="0"/>
          <a:ext cx="0" cy="0"/>
          <a:chOff x="0" y="0"/>
          <a:chExt cx="0" cy="0"/>
        </a:xfrm>
      </p:grpSpPr>
      <p:sp>
        <p:nvSpPr>
          <p:cNvPr id="328" name="Google Shape;328;p31"/>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9" name="Google Shape;329;p31"/>
          <p:cNvSpPr txBox="1"/>
          <p:nvPr>
            <p:ph idx="1" type="body"/>
          </p:nvPr>
        </p:nvSpPr>
        <p:spPr>
          <a:xfrm>
            <a:off x="770007" y="1872800"/>
            <a:ext cx="25224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Boosters with max. Payload and Customer</a:t>
            </a:r>
            <a:endParaRPr/>
          </a:p>
        </p:txBody>
      </p:sp>
      <p:sp>
        <p:nvSpPr>
          <p:cNvPr id="330" name="Google Shape;330;p31"/>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Boosters Carried Maximum Payload</a:t>
            </a:r>
            <a:endParaRPr/>
          </a:p>
        </p:txBody>
      </p:sp>
      <p:pic>
        <p:nvPicPr>
          <p:cNvPr id="331" name="Google Shape;331;p31"/>
          <p:cNvPicPr preferRelativeResize="0"/>
          <p:nvPr/>
        </p:nvPicPr>
        <p:blipFill>
          <a:blip r:embed="rId4">
            <a:alphaModFix/>
          </a:blip>
          <a:stretch>
            <a:fillRect/>
          </a:stretch>
        </p:blipFill>
        <p:spPr>
          <a:xfrm>
            <a:off x="6406057" y="1394461"/>
            <a:ext cx="4286250" cy="4324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5" name="Shape 335"/>
        <p:cNvGrpSpPr/>
        <p:nvPr/>
      </p:nvGrpSpPr>
      <p:grpSpPr>
        <a:xfrm>
          <a:off x="0" y="0"/>
          <a:ext cx="0" cy="0"/>
          <a:chOff x="0" y="0"/>
          <a:chExt cx="0" cy="0"/>
        </a:xfrm>
      </p:grpSpPr>
      <p:sp>
        <p:nvSpPr>
          <p:cNvPr id="336" name="Google Shape;336;p32"/>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7" name="Google Shape;337;p32"/>
          <p:cNvSpPr txBox="1"/>
          <p:nvPr>
            <p:ph idx="1" type="body"/>
          </p:nvPr>
        </p:nvSpPr>
        <p:spPr>
          <a:xfrm>
            <a:off x="770005" y="1825625"/>
            <a:ext cx="45501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3 failed landing outcomes on droneship</a:t>
            </a:r>
            <a:endParaRPr sz="2800">
              <a:solidFill>
                <a:srgbClr val="292929"/>
              </a:solidFill>
              <a:latin typeface="Arial"/>
              <a:ea typeface="Arial"/>
              <a:cs typeface="Arial"/>
              <a:sym typeface="Arial"/>
            </a:endParaRPr>
          </a:p>
        </p:txBody>
      </p:sp>
      <p:sp>
        <p:nvSpPr>
          <p:cNvPr id="338" name="Google Shape;338;p32"/>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2015 Launch Records</a:t>
            </a:r>
            <a:endParaRPr/>
          </a:p>
        </p:txBody>
      </p:sp>
      <p:pic>
        <p:nvPicPr>
          <p:cNvPr id="339" name="Google Shape;339;p32"/>
          <p:cNvPicPr preferRelativeResize="0"/>
          <p:nvPr/>
        </p:nvPicPr>
        <p:blipFill>
          <a:blip r:embed="rId4">
            <a:alphaModFix/>
          </a:blip>
          <a:stretch>
            <a:fillRect/>
          </a:stretch>
        </p:blipFill>
        <p:spPr>
          <a:xfrm>
            <a:off x="5717705" y="2686049"/>
            <a:ext cx="5257800" cy="1485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3" name="Shape 343"/>
        <p:cNvGrpSpPr/>
        <p:nvPr/>
      </p:nvGrpSpPr>
      <p:grpSpPr>
        <a:xfrm>
          <a:off x="0" y="0"/>
          <a:ext cx="0" cy="0"/>
          <a:chOff x="0" y="0"/>
          <a:chExt cx="0" cy="0"/>
        </a:xfrm>
      </p:grpSpPr>
      <p:sp>
        <p:nvSpPr>
          <p:cNvPr id="344" name="Google Shape;344;p33"/>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5" name="Google Shape;345;p33"/>
          <p:cNvSpPr txBox="1"/>
          <p:nvPr>
            <p:ph idx="1" type="body"/>
          </p:nvPr>
        </p:nvSpPr>
        <p:spPr>
          <a:xfrm>
            <a:off x="769995" y="1825625"/>
            <a:ext cx="3248400" cy="43512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1400"/>
              </a:spcBef>
              <a:spcAft>
                <a:spcPts val="0"/>
              </a:spcAft>
              <a:buNone/>
            </a:pPr>
            <a:r>
              <a:rPr lang="en-US" sz="2200">
                <a:solidFill>
                  <a:srgbClr val="292929"/>
                </a:solidFill>
              </a:rPr>
              <a:t>Landing outcomes ranking descending from highest to lowest</a:t>
            </a:r>
            <a:endParaRPr/>
          </a:p>
        </p:txBody>
      </p:sp>
      <p:sp>
        <p:nvSpPr>
          <p:cNvPr id="346" name="Google Shape;346;p33"/>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Rank Landing Outcomes Between 2010-06-04 and 2017-03-20</a:t>
            </a:r>
            <a:endParaRPr/>
          </a:p>
        </p:txBody>
      </p:sp>
      <p:pic>
        <p:nvPicPr>
          <p:cNvPr id="347" name="Google Shape;347;p33"/>
          <p:cNvPicPr preferRelativeResize="0"/>
          <p:nvPr/>
        </p:nvPicPr>
        <p:blipFill>
          <a:blip r:embed="rId4">
            <a:alphaModFix/>
          </a:blip>
          <a:stretch>
            <a:fillRect/>
          </a:stretch>
        </p:blipFill>
        <p:spPr>
          <a:xfrm>
            <a:off x="7481183" y="2390649"/>
            <a:ext cx="3019425" cy="31051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1" name="Shape 351"/>
        <p:cNvGrpSpPr/>
        <p:nvPr/>
      </p:nvGrpSpPr>
      <p:grpSpPr>
        <a:xfrm>
          <a:off x="0" y="0"/>
          <a:ext cx="0" cy="0"/>
          <a:chOff x="0" y="0"/>
          <a:chExt cx="0" cy="0"/>
        </a:xfrm>
      </p:grpSpPr>
      <p:sp>
        <p:nvSpPr>
          <p:cNvPr id="352" name="Google Shape;352;p34"/>
          <p:cNvSpPr txBox="1"/>
          <p:nvPr/>
        </p:nvSpPr>
        <p:spPr>
          <a:xfrm>
            <a:off x="797970" y="2529746"/>
            <a:ext cx="1058303" cy="369332"/>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Section 3</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6" name="Shape 356"/>
        <p:cNvGrpSpPr/>
        <p:nvPr/>
      </p:nvGrpSpPr>
      <p:grpSpPr>
        <a:xfrm>
          <a:off x="0" y="0"/>
          <a:ext cx="0" cy="0"/>
          <a:chOff x="0" y="0"/>
          <a:chExt cx="0" cy="0"/>
        </a:xfrm>
      </p:grpSpPr>
      <p:sp>
        <p:nvSpPr>
          <p:cNvPr id="357" name="Google Shape;357;p35"/>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8" name="Google Shape;358;p35"/>
          <p:cNvSpPr txBox="1"/>
          <p:nvPr>
            <p:ph idx="1" type="body"/>
          </p:nvPr>
        </p:nvSpPr>
        <p:spPr>
          <a:xfrm>
            <a:off x="1155050" y="5519325"/>
            <a:ext cx="9745500" cy="748500"/>
          </a:xfrm>
          <a:prstGeom prst="rect">
            <a:avLst/>
          </a:prstGeom>
          <a:noFill/>
          <a:ln>
            <a:noFill/>
          </a:ln>
        </p:spPr>
        <p:txBody>
          <a:bodyPr anchorCtr="0" anchor="t" bIns="45700" lIns="91425" spcFirstLastPara="1" rIns="91425" wrap="square" tIns="45700">
            <a:normAutofit fontScale="77500"/>
          </a:bodyPr>
          <a:lstStyle/>
          <a:p>
            <a:pPr indent="-50800" lvl="0" marL="228600" marR="0" rtl="0" algn="l">
              <a:lnSpc>
                <a:spcPct val="90000"/>
              </a:lnSpc>
              <a:spcBef>
                <a:spcPts val="1000"/>
              </a:spcBef>
              <a:spcAft>
                <a:spcPts val="0"/>
              </a:spcAft>
              <a:buClr>
                <a:schemeClr val="dk1"/>
              </a:buClr>
              <a:buSzPct val="100000"/>
              <a:buFont typeface="Arial"/>
              <a:buNone/>
            </a:pPr>
            <a:r>
              <a:rPr lang="en-US" sz="2800">
                <a:solidFill>
                  <a:schemeClr val="dk1"/>
                </a:solidFill>
                <a:latin typeface="Calibri"/>
                <a:ea typeface="Calibri"/>
                <a:cs typeface="Calibri"/>
                <a:sym typeface="Calibri"/>
              </a:rPr>
              <a:t>All launch sides are in the proximity of the ocean and the equator - launch sides are not in the proximity of cities/ railways/ highways/ highly populated areas</a:t>
            </a:r>
            <a:endParaRPr sz="2800">
              <a:solidFill>
                <a:schemeClr val="dk1"/>
              </a:solidFill>
              <a:latin typeface="Calibri"/>
              <a:ea typeface="Calibri"/>
              <a:cs typeface="Calibri"/>
              <a:sym typeface="Calibri"/>
            </a:endParaRPr>
          </a:p>
        </p:txBody>
      </p:sp>
      <p:sp>
        <p:nvSpPr>
          <p:cNvPr id="359" name="Google Shape;359;p35"/>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USA SPACEX LAUNCH SIDES OVERVIEW</a:t>
            </a:r>
            <a:endParaRPr/>
          </a:p>
        </p:txBody>
      </p:sp>
      <p:pic>
        <p:nvPicPr>
          <p:cNvPr id="360" name="Google Shape;360;p35"/>
          <p:cNvPicPr preferRelativeResize="0"/>
          <p:nvPr/>
        </p:nvPicPr>
        <p:blipFill>
          <a:blip r:embed="rId4">
            <a:alphaModFix/>
          </a:blip>
          <a:stretch>
            <a:fillRect/>
          </a:stretch>
        </p:blipFill>
        <p:spPr>
          <a:xfrm>
            <a:off x="1465775" y="1302300"/>
            <a:ext cx="9260452" cy="40876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4" name="Shape 364"/>
        <p:cNvGrpSpPr/>
        <p:nvPr/>
      </p:nvGrpSpPr>
      <p:grpSpPr>
        <a:xfrm>
          <a:off x="0" y="0"/>
          <a:ext cx="0" cy="0"/>
          <a:chOff x="0" y="0"/>
          <a:chExt cx="0" cy="0"/>
        </a:xfrm>
      </p:grpSpPr>
      <p:sp>
        <p:nvSpPr>
          <p:cNvPr id="365" name="Google Shape;365;p36"/>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6" name="Google Shape;366;p36"/>
          <p:cNvSpPr txBox="1"/>
          <p:nvPr>
            <p:ph idx="1" type="body"/>
          </p:nvPr>
        </p:nvSpPr>
        <p:spPr>
          <a:xfrm>
            <a:off x="965075" y="5934000"/>
            <a:ext cx="9745500" cy="678600"/>
          </a:xfrm>
          <a:prstGeom prst="rect">
            <a:avLst/>
          </a:prstGeom>
          <a:noFill/>
          <a:ln>
            <a:noFill/>
          </a:ln>
        </p:spPr>
        <p:txBody>
          <a:bodyPr anchorCtr="0" anchor="t" bIns="45700" lIns="91425" spcFirstLastPara="1" rIns="91425" wrap="square" tIns="45700">
            <a:normAutofit/>
          </a:bodyPr>
          <a:lstStyle/>
          <a:p>
            <a:pPr indent="-50800" lvl="0" marL="228600" marR="0" rtl="0" algn="l">
              <a:lnSpc>
                <a:spcPct val="90000"/>
              </a:lnSpc>
              <a:spcBef>
                <a:spcPts val="1400"/>
              </a:spcBef>
              <a:spcAft>
                <a:spcPts val="0"/>
              </a:spcAft>
              <a:buClr>
                <a:schemeClr val="dk1"/>
              </a:buClr>
              <a:buSzPts val="2800"/>
              <a:buFont typeface="Arial"/>
              <a:buNone/>
            </a:pPr>
            <a:r>
              <a:rPr lang="en-US" sz="2200">
                <a:solidFill>
                  <a:srgbClr val="292929"/>
                </a:solidFill>
              </a:rPr>
              <a:t>Green markers = success - Red markers = failed</a:t>
            </a:r>
            <a:endParaRPr sz="2800">
              <a:solidFill>
                <a:srgbClr val="292929"/>
              </a:solidFill>
              <a:latin typeface="Calibri"/>
              <a:ea typeface="Calibri"/>
              <a:cs typeface="Calibri"/>
              <a:sym typeface="Calibri"/>
            </a:endParaRPr>
          </a:p>
        </p:txBody>
      </p:sp>
      <p:sp>
        <p:nvSpPr>
          <p:cNvPr id="367" name="Google Shape;367;p36"/>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Success/ Fail status on Launch Sides</a:t>
            </a:r>
            <a:endParaRPr/>
          </a:p>
        </p:txBody>
      </p:sp>
      <p:pic>
        <p:nvPicPr>
          <p:cNvPr id="368" name="Google Shape;368;p36"/>
          <p:cNvPicPr preferRelativeResize="0"/>
          <p:nvPr/>
        </p:nvPicPr>
        <p:blipFill>
          <a:blip r:embed="rId4">
            <a:alphaModFix/>
          </a:blip>
          <a:stretch>
            <a:fillRect/>
          </a:stretch>
        </p:blipFill>
        <p:spPr>
          <a:xfrm>
            <a:off x="2195125" y="1331924"/>
            <a:ext cx="8953108" cy="45415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2" name="Shape 372"/>
        <p:cNvGrpSpPr/>
        <p:nvPr/>
      </p:nvGrpSpPr>
      <p:grpSpPr>
        <a:xfrm>
          <a:off x="0" y="0"/>
          <a:ext cx="0" cy="0"/>
          <a:chOff x="0" y="0"/>
          <a:chExt cx="0" cy="0"/>
        </a:xfrm>
      </p:grpSpPr>
      <p:sp>
        <p:nvSpPr>
          <p:cNvPr id="373" name="Google Shape;373;p37"/>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4" name="Google Shape;374;p37"/>
          <p:cNvSpPr txBox="1"/>
          <p:nvPr>
            <p:ph idx="1" type="body"/>
          </p:nvPr>
        </p:nvSpPr>
        <p:spPr>
          <a:xfrm>
            <a:off x="1148725" y="5466266"/>
            <a:ext cx="8597700" cy="11451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Distance from the ocean </a:t>
            </a:r>
            <a:endParaRPr sz="2800">
              <a:solidFill>
                <a:srgbClr val="292929"/>
              </a:solidFill>
              <a:latin typeface="Arial"/>
              <a:ea typeface="Arial"/>
              <a:cs typeface="Arial"/>
              <a:sym typeface="Arial"/>
            </a:endParaRPr>
          </a:p>
          <a:p>
            <a:pPr indent="-88900" lvl="0" marL="228600" marR="0" rtl="0" algn="l">
              <a:lnSpc>
                <a:spcPct val="100000"/>
              </a:lnSpc>
              <a:spcBef>
                <a:spcPts val="1400"/>
              </a:spcBef>
              <a:spcAft>
                <a:spcPts val="0"/>
              </a:spcAft>
              <a:buClr>
                <a:schemeClr val="dk1"/>
              </a:buClr>
              <a:buSzPts val="2200"/>
              <a:buFont typeface="Arial"/>
              <a:buNone/>
            </a:pPr>
            <a:r>
              <a:t/>
            </a:r>
            <a:endParaRPr sz="2200">
              <a:solidFill>
                <a:srgbClr val="292929"/>
              </a:solidFill>
              <a:latin typeface="Arial"/>
              <a:ea typeface="Arial"/>
              <a:cs typeface="Arial"/>
              <a:sym typeface="Arial"/>
            </a:endParaRPr>
          </a:p>
        </p:txBody>
      </p:sp>
      <p:sp>
        <p:nvSpPr>
          <p:cNvPr id="375" name="Google Shape;375;p37"/>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Proximity Map for Launch Side</a:t>
            </a:r>
            <a:endParaRPr/>
          </a:p>
        </p:txBody>
      </p:sp>
      <p:pic>
        <p:nvPicPr>
          <p:cNvPr id="376" name="Google Shape;376;p37"/>
          <p:cNvPicPr preferRelativeResize="0"/>
          <p:nvPr/>
        </p:nvPicPr>
        <p:blipFill>
          <a:blip r:embed="rId4">
            <a:alphaModFix/>
          </a:blip>
          <a:stretch>
            <a:fillRect/>
          </a:stretch>
        </p:blipFill>
        <p:spPr>
          <a:xfrm>
            <a:off x="1148725" y="1446675"/>
            <a:ext cx="9958525" cy="32253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0" name="Shape 380"/>
        <p:cNvGrpSpPr/>
        <p:nvPr/>
      </p:nvGrpSpPr>
      <p:grpSpPr>
        <a:xfrm>
          <a:off x="0" y="0"/>
          <a:ext cx="0" cy="0"/>
          <a:chOff x="0" y="0"/>
          <a:chExt cx="0" cy="0"/>
        </a:xfrm>
      </p:grpSpPr>
      <p:sp>
        <p:nvSpPr>
          <p:cNvPr id="381" name="Google Shape;381;p38"/>
          <p:cNvSpPr txBox="1"/>
          <p:nvPr/>
        </p:nvSpPr>
        <p:spPr>
          <a:xfrm>
            <a:off x="797970" y="2529746"/>
            <a:ext cx="1058303" cy="369332"/>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Section 4</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5" name="Shape 385"/>
        <p:cNvGrpSpPr/>
        <p:nvPr/>
      </p:nvGrpSpPr>
      <p:grpSpPr>
        <a:xfrm>
          <a:off x="0" y="0"/>
          <a:ext cx="0" cy="0"/>
          <a:chOff x="0" y="0"/>
          <a:chExt cx="0" cy="0"/>
        </a:xfrm>
      </p:grpSpPr>
      <p:sp>
        <p:nvSpPr>
          <p:cNvPr id="386" name="Google Shape;386;p39"/>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7" name="Google Shape;387;p39"/>
          <p:cNvSpPr txBox="1"/>
          <p:nvPr>
            <p:ph idx="1" type="body"/>
          </p:nvPr>
        </p:nvSpPr>
        <p:spPr>
          <a:xfrm>
            <a:off x="770000" y="5074900"/>
            <a:ext cx="10282500" cy="549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1050">
                <a:solidFill>
                  <a:srgbClr val="D6D5D4"/>
                </a:solidFill>
                <a:highlight>
                  <a:srgbClr val="1E1D1C"/>
                </a:highlight>
                <a:latin typeface="Roboto"/>
                <a:ea typeface="Roboto"/>
                <a:cs typeface="Roboto"/>
                <a:sym typeface="Roboto"/>
              </a:rPr>
              <a:t>CCAFS LC-40</a:t>
            </a:r>
            <a:r>
              <a:rPr lang="en-US" sz="1050">
                <a:solidFill>
                  <a:srgbClr val="D6D5D4"/>
                </a:solidFill>
                <a:highlight>
                  <a:srgbClr val="1E1D1C"/>
                </a:highlight>
                <a:latin typeface="Roboto"/>
                <a:ea typeface="Roboto"/>
                <a:cs typeface="Roboto"/>
                <a:sym typeface="Roboto"/>
              </a:rPr>
              <a:t> (höchste absolute Success-Count im Pie Chart) </a:t>
            </a:r>
            <a:r>
              <a:rPr lang="en-US" sz="1100">
                <a:solidFill>
                  <a:schemeClr val="dk1"/>
                </a:solidFill>
              </a:rPr>
              <a:t> </a:t>
            </a:r>
            <a:endParaRPr/>
          </a:p>
        </p:txBody>
      </p:sp>
      <p:sp>
        <p:nvSpPr>
          <p:cNvPr id="388" name="Google Shape;388;p39"/>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Launch Records Dashboard</a:t>
            </a:r>
            <a:endParaRPr/>
          </a:p>
        </p:txBody>
      </p:sp>
      <p:pic>
        <p:nvPicPr>
          <p:cNvPr id="389" name="Google Shape;389;p39"/>
          <p:cNvPicPr preferRelativeResize="0"/>
          <p:nvPr/>
        </p:nvPicPr>
        <p:blipFill>
          <a:blip r:embed="rId4">
            <a:alphaModFix/>
          </a:blip>
          <a:stretch>
            <a:fillRect/>
          </a:stretch>
        </p:blipFill>
        <p:spPr>
          <a:xfrm>
            <a:off x="2173500" y="1297474"/>
            <a:ext cx="7708599" cy="369890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3" name="Shape 393"/>
        <p:cNvGrpSpPr/>
        <p:nvPr/>
      </p:nvGrpSpPr>
      <p:grpSpPr>
        <a:xfrm>
          <a:off x="0" y="0"/>
          <a:ext cx="0" cy="0"/>
          <a:chOff x="0" y="0"/>
          <a:chExt cx="0" cy="0"/>
        </a:xfrm>
      </p:grpSpPr>
      <p:sp>
        <p:nvSpPr>
          <p:cNvPr id="394" name="Google Shape;394;p40"/>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5" name="Google Shape;395;p40"/>
          <p:cNvSpPr txBox="1"/>
          <p:nvPr>
            <p:ph idx="1" type="body"/>
          </p:nvPr>
        </p:nvSpPr>
        <p:spPr>
          <a:xfrm>
            <a:off x="734025" y="5269991"/>
            <a:ext cx="10551600" cy="906900"/>
          </a:xfrm>
          <a:prstGeom prst="rect">
            <a:avLst/>
          </a:prstGeom>
          <a:noFill/>
          <a:ln>
            <a:noFill/>
          </a:ln>
        </p:spPr>
        <p:txBody>
          <a:bodyPr anchorCtr="0" anchor="t" bIns="45700" lIns="91425" spcFirstLastPara="1" rIns="91425" wrap="square" tIns="45700">
            <a:normAutofit/>
          </a:bodyPr>
          <a:lstStyle/>
          <a:p>
            <a:pPr indent="-50800" lvl="0" marL="228600" marR="0" rtl="0" algn="ctr">
              <a:lnSpc>
                <a:spcPct val="90000"/>
              </a:lnSpc>
              <a:spcBef>
                <a:spcPts val="1000"/>
              </a:spcBef>
              <a:spcAft>
                <a:spcPts val="0"/>
              </a:spcAft>
              <a:buClr>
                <a:schemeClr val="dk1"/>
              </a:buClr>
              <a:buSzPts val="2800"/>
              <a:buFont typeface="Arial"/>
              <a:buNone/>
            </a:pPr>
            <a:r>
              <a:rPr b="1" lang="en-US" sz="1050">
                <a:solidFill>
                  <a:srgbClr val="D6D5D4"/>
                </a:solidFill>
                <a:highlight>
                  <a:srgbClr val="1E1D1C"/>
                </a:highlight>
                <a:latin typeface="Roboto"/>
                <a:ea typeface="Roboto"/>
                <a:cs typeface="Roboto"/>
                <a:sym typeface="Roboto"/>
              </a:rPr>
              <a:t>KSC LC-39A</a:t>
            </a:r>
            <a:r>
              <a:rPr lang="en-US" sz="1050">
                <a:solidFill>
                  <a:srgbClr val="D6D5D4"/>
                </a:solidFill>
                <a:highlight>
                  <a:srgbClr val="1E1D1C"/>
                </a:highlight>
                <a:latin typeface="Roboto"/>
                <a:ea typeface="Roboto"/>
                <a:cs typeface="Roboto"/>
                <a:sym typeface="Roboto"/>
              </a:rPr>
              <a:t> (höchstes Verhältnis Success/(Success+Fail)) </a:t>
            </a:r>
            <a:r>
              <a:rPr lang="en-US" sz="1100">
                <a:solidFill>
                  <a:schemeClr val="dk1"/>
                </a:solidFill>
              </a:rPr>
              <a:t> </a:t>
            </a:r>
            <a:endParaRPr sz="2800">
              <a:solidFill>
                <a:schemeClr val="dk1"/>
              </a:solidFill>
              <a:latin typeface="Calibri"/>
              <a:ea typeface="Calibri"/>
              <a:cs typeface="Calibri"/>
              <a:sym typeface="Calibri"/>
            </a:endParaRPr>
          </a:p>
        </p:txBody>
      </p:sp>
      <p:sp>
        <p:nvSpPr>
          <p:cNvPr id="396" name="Google Shape;396;p40"/>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Score Success/ Fail</a:t>
            </a:r>
            <a:endParaRPr/>
          </a:p>
        </p:txBody>
      </p:sp>
      <p:pic>
        <p:nvPicPr>
          <p:cNvPr id="397" name="Google Shape;397;p40"/>
          <p:cNvPicPr preferRelativeResize="0"/>
          <p:nvPr/>
        </p:nvPicPr>
        <p:blipFill>
          <a:blip r:embed="rId4">
            <a:alphaModFix/>
          </a:blip>
          <a:stretch>
            <a:fillRect/>
          </a:stretch>
        </p:blipFill>
        <p:spPr>
          <a:xfrm>
            <a:off x="1063325" y="1240099"/>
            <a:ext cx="9928942" cy="387749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1" name="Shape 401"/>
        <p:cNvGrpSpPr/>
        <p:nvPr/>
      </p:nvGrpSpPr>
      <p:grpSpPr>
        <a:xfrm>
          <a:off x="0" y="0"/>
          <a:ext cx="0" cy="0"/>
          <a:chOff x="0" y="0"/>
          <a:chExt cx="0" cy="0"/>
        </a:xfrm>
      </p:grpSpPr>
      <p:sp>
        <p:nvSpPr>
          <p:cNvPr id="402" name="Google Shape;402;p41"/>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3" name="Google Shape;403;p41"/>
          <p:cNvSpPr txBox="1"/>
          <p:nvPr>
            <p:ph idx="1" type="body"/>
          </p:nvPr>
        </p:nvSpPr>
        <p:spPr>
          <a:xfrm>
            <a:off x="770000" y="5627915"/>
            <a:ext cx="10414800" cy="549000"/>
          </a:xfrm>
          <a:prstGeom prst="rect">
            <a:avLst/>
          </a:prstGeom>
          <a:noFill/>
          <a:ln>
            <a:noFill/>
          </a:ln>
        </p:spPr>
        <p:txBody>
          <a:bodyPr anchorCtr="0" anchor="t" bIns="45700" lIns="91425" spcFirstLastPara="1" rIns="91425" wrap="square" tIns="45700">
            <a:normAutofit lnSpcReduction="20000"/>
          </a:bodyPr>
          <a:lstStyle/>
          <a:p>
            <a:pPr indent="-88900" lvl="0" marL="228600" marR="0" rtl="0" algn="l">
              <a:lnSpc>
                <a:spcPct val="100000"/>
              </a:lnSpc>
              <a:spcBef>
                <a:spcPts val="1400"/>
              </a:spcBef>
              <a:spcAft>
                <a:spcPts val="0"/>
              </a:spcAft>
              <a:buClr>
                <a:schemeClr val="dk1"/>
              </a:buClr>
              <a:buSzPts val="2200"/>
              <a:buFont typeface="Arial"/>
              <a:buNone/>
            </a:pPr>
            <a:r>
              <a:rPr b="1" lang="en-US" sz="1050">
                <a:solidFill>
                  <a:srgbClr val="D6D5D4"/>
                </a:solidFill>
                <a:highlight>
                  <a:srgbClr val="1E1D1C"/>
                </a:highlight>
                <a:latin typeface="Roboto"/>
                <a:ea typeface="Roboto"/>
                <a:cs typeface="Roboto"/>
                <a:sym typeface="Roboto"/>
              </a:rPr>
              <a:t>~5000–6000 kg</a:t>
            </a:r>
            <a:r>
              <a:rPr lang="en-US" sz="1050">
                <a:solidFill>
                  <a:srgbClr val="D6D5D4"/>
                </a:solidFill>
                <a:highlight>
                  <a:srgbClr val="1E1D1C"/>
                </a:highlight>
                <a:latin typeface="Roboto"/>
                <a:ea typeface="Roboto"/>
                <a:cs typeface="Roboto"/>
                <a:sym typeface="Roboto"/>
              </a:rPr>
              <a:t> (meiste(class=1)-Punkte im Scatter)</a:t>
            </a:r>
            <a:r>
              <a:rPr lang="en-US" sz="1100">
                <a:solidFill>
                  <a:schemeClr val="dk1"/>
                </a:solidFill>
              </a:rPr>
              <a:t> </a:t>
            </a:r>
            <a:endParaRPr sz="1100">
              <a:solidFill>
                <a:schemeClr val="dk1"/>
              </a:solidFill>
            </a:endParaRPr>
          </a:p>
          <a:p>
            <a:pPr indent="-88900" lvl="0" marL="228600" marR="0" rtl="0" algn="l">
              <a:lnSpc>
                <a:spcPct val="100000"/>
              </a:lnSpc>
              <a:spcBef>
                <a:spcPts val="1400"/>
              </a:spcBef>
              <a:spcAft>
                <a:spcPts val="0"/>
              </a:spcAft>
              <a:buClr>
                <a:schemeClr val="dk1"/>
              </a:buClr>
              <a:buSzPts val="2200"/>
              <a:buFont typeface="Arial"/>
              <a:buNone/>
            </a:pPr>
            <a:r>
              <a:rPr b="1" lang="en-US" sz="1050">
                <a:solidFill>
                  <a:srgbClr val="D6D5D4"/>
                </a:solidFill>
                <a:highlight>
                  <a:srgbClr val="1E1D1C"/>
                </a:highlight>
                <a:latin typeface="Roboto"/>
                <a:ea typeface="Roboto"/>
                <a:cs typeface="Roboto"/>
                <a:sym typeface="Roboto"/>
              </a:rPr>
              <a:t>&gt;9000 kg</a:t>
            </a:r>
            <a:r>
              <a:rPr lang="en-US" sz="1050">
                <a:solidFill>
                  <a:srgbClr val="D6D5D4"/>
                </a:solidFill>
                <a:highlight>
                  <a:srgbClr val="1E1D1C"/>
                </a:highlight>
                <a:latin typeface="Roboto"/>
                <a:ea typeface="Roboto"/>
                <a:cs typeface="Roboto"/>
                <a:sym typeface="Roboto"/>
              </a:rPr>
              <a:t> (meist(class=0)-Punkte bei hohen Payloads) </a:t>
            </a:r>
            <a:r>
              <a:rPr lang="en-US" sz="1100">
                <a:solidFill>
                  <a:schemeClr val="dk1"/>
                </a:solidFill>
              </a:rPr>
              <a:t> </a:t>
            </a:r>
            <a:endParaRPr sz="1100">
              <a:solidFill>
                <a:schemeClr val="dk1"/>
              </a:solidFill>
            </a:endParaRPr>
          </a:p>
        </p:txBody>
      </p:sp>
      <p:sp>
        <p:nvSpPr>
          <p:cNvPr id="404" name="Google Shape;404;p41"/>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Payload Mass vs. Launch Outcome</a:t>
            </a:r>
            <a:endParaRPr/>
          </a:p>
        </p:txBody>
      </p:sp>
      <p:pic>
        <p:nvPicPr>
          <p:cNvPr id="405" name="Google Shape;405;p41"/>
          <p:cNvPicPr preferRelativeResize="0"/>
          <p:nvPr/>
        </p:nvPicPr>
        <p:blipFill>
          <a:blip r:embed="rId4">
            <a:alphaModFix/>
          </a:blip>
          <a:stretch>
            <a:fillRect/>
          </a:stretch>
        </p:blipFill>
        <p:spPr>
          <a:xfrm>
            <a:off x="1216488" y="1311286"/>
            <a:ext cx="9759022" cy="423541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9" name="Shape 409"/>
        <p:cNvGrpSpPr/>
        <p:nvPr/>
      </p:nvGrpSpPr>
      <p:grpSpPr>
        <a:xfrm>
          <a:off x="0" y="0"/>
          <a:ext cx="0" cy="0"/>
          <a:chOff x="0" y="0"/>
          <a:chExt cx="0" cy="0"/>
        </a:xfrm>
      </p:grpSpPr>
      <p:sp>
        <p:nvSpPr>
          <p:cNvPr id="410" name="Google Shape;410;p42"/>
          <p:cNvSpPr txBox="1"/>
          <p:nvPr/>
        </p:nvSpPr>
        <p:spPr>
          <a:xfrm>
            <a:off x="797970" y="2529746"/>
            <a:ext cx="1058303" cy="369332"/>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Section 5</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4" name="Shape 414"/>
        <p:cNvGrpSpPr/>
        <p:nvPr/>
      </p:nvGrpSpPr>
      <p:grpSpPr>
        <a:xfrm>
          <a:off x="0" y="0"/>
          <a:ext cx="0" cy="0"/>
          <a:chOff x="0" y="0"/>
          <a:chExt cx="0" cy="0"/>
        </a:xfrm>
      </p:grpSpPr>
      <p:sp>
        <p:nvSpPr>
          <p:cNvPr id="415" name="Google Shape;415;p43"/>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6" name="Google Shape;416;p43"/>
          <p:cNvSpPr txBox="1"/>
          <p:nvPr>
            <p:ph idx="1" type="body"/>
          </p:nvPr>
        </p:nvSpPr>
        <p:spPr>
          <a:xfrm>
            <a:off x="770000" y="4731800"/>
            <a:ext cx="10110300" cy="11976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1400"/>
              </a:spcBef>
              <a:spcAft>
                <a:spcPts val="0"/>
              </a:spcAft>
              <a:buNone/>
            </a:pPr>
            <a:r>
              <a:rPr lang="en-US" sz="2200">
                <a:solidFill>
                  <a:srgbClr val="292929"/>
                </a:solidFill>
              </a:rPr>
              <a:t>The Model with the best accuracy is the DecisionTree Model</a:t>
            </a:r>
            <a:endParaRPr/>
          </a:p>
        </p:txBody>
      </p:sp>
      <p:sp>
        <p:nvSpPr>
          <p:cNvPr id="417" name="Google Shape;417;p43"/>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Classification Accuracy</a:t>
            </a:r>
            <a:endParaRPr sz="4000">
              <a:solidFill>
                <a:srgbClr val="0B49CB"/>
              </a:solidFill>
              <a:latin typeface="IBM Plex Mono SemiBold"/>
              <a:ea typeface="IBM Plex Mono SemiBold"/>
              <a:cs typeface="IBM Plex Mono SemiBold"/>
              <a:sym typeface="IBM Plex Mono SemiBold"/>
            </a:endParaRPr>
          </a:p>
        </p:txBody>
      </p:sp>
      <p:pic>
        <p:nvPicPr>
          <p:cNvPr id="418" name="Google Shape;418;p43"/>
          <p:cNvPicPr preferRelativeResize="0"/>
          <p:nvPr/>
        </p:nvPicPr>
        <p:blipFill>
          <a:blip r:embed="rId4">
            <a:alphaModFix/>
          </a:blip>
          <a:stretch>
            <a:fillRect/>
          </a:stretch>
        </p:blipFill>
        <p:spPr>
          <a:xfrm>
            <a:off x="1628225" y="1331924"/>
            <a:ext cx="8393849" cy="330370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2" name="Shape 422"/>
        <p:cNvGrpSpPr/>
        <p:nvPr/>
      </p:nvGrpSpPr>
      <p:grpSpPr>
        <a:xfrm>
          <a:off x="0" y="0"/>
          <a:ext cx="0" cy="0"/>
          <a:chOff x="0" y="0"/>
          <a:chExt cx="0" cy="0"/>
        </a:xfrm>
      </p:grpSpPr>
      <p:sp>
        <p:nvSpPr>
          <p:cNvPr id="423" name="Google Shape;423;p44"/>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4" name="Google Shape;424;p44"/>
          <p:cNvSpPr txBox="1"/>
          <p:nvPr>
            <p:ph idx="1" type="body"/>
          </p:nvPr>
        </p:nvSpPr>
        <p:spPr>
          <a:xfrm>
            <a:off x="770007" y="2057400"/>
            <a:ext cx="3282300" cy="38115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The accuracy with 0,889 from decisionTree is better then the accuracy from the other algorithms </a:t>
            </a:r>
            <a:r>
              <a:rPr lang="en-US" sz="2200">
                <a:solidFill>
                  <a:srgbClr val="292929"/>
                </a:solidFill>
                <a:latin typeface="Arial"/>
                <a:ea typeface="Arial"/>
                <a:cs typeface="Arial"/>
                <a:sym typeface="Arial"/>
              </a:rPr>
              <a:t> </a:t>
            </a:r>
            <a:endParaRPr/>
          </a:p>
        </p:txBody>
      </p:sp>
      <p:sp>
        <p:nvSpPr>
          <p:cNvPr id="425" name="Google Shape;425;p44"/>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Confusion Matrix - DecisionTree</a:t>
            </a:r>
            <a:endParaRPr sz="4000">
              <a:solidFill>
                <a:srgbClr val="0B49CB"/>
              </a:solidFill>
              <a:latin typeface="IBM Plex Mono SemiBold"/>
              <a:ea typeface="IBM Plex Mono SemiBold"/>
              <a:cs typeface="IBM Plex Mono SemiBold"/>
              <a:sym typeface="IBM Plex Mono SemiBold"/>
            </a:endParaRPr>
          </a:p>
        </p:txBody>
      </p:sp>
      <p:pic>
        <p:nvPicPr>
          <p:cNvPr id="426" name="Google Shape;426;p44"/>
          <p:cNvPicPr preferRelativeResize="0"/>
          <p:nvPr/>
        </p:nvPicPr>
        <p:blipFill>
          <a:blip r:embed="rId4">
            <a:alphaModFix/>
          </a:blip>
          <a:stretch>
            <a:fillRect/>
          </a:stretch>
        </p:blipFill>
        <p:spPr>
          <a:xfrm>
            <a:off x="5641407" y="1458149"/>
            <a:ext cx="5644200" cy="463307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0" name="Shape 430"/>
        <p:cNvGrpSpPr/>
        <p:nvPr/>
      </p:nvGrpSpPr>
      <p:grpSpPr>
        <a:xfrm>
          <a:off x="0" y="0"/>
          <a:ext cx="0" cy="0"/>
          <a:chOff x="0" y="0"/>
          <a:chExt cx="0" cy="0"/>
        </a:xfrm>
      </p:grpSpPr>
      <p:sp>
        <p:nvSpPr>
          <p:cNvPr id="431" name="Google Shape;431;p45"/>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2" name="Google Shape;432;p45"/>
          <p:cNvSpPr txBox="1"/>
          <p:nvPr>
            <p:ph idx="1" type="body"/>
          </p:nvPr>
        </p:nvSpPr>
        <p:spPr>
          <a:xfrm>
            <a:off x="770011" y="1875054"/>
            <a:ext cx="5903913"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DecisionTree is the best fitting Model with more than 4,2%points better than the next model</a:t>
            </a:r>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All other models are in the very close range 84,7% accuracy</a:t>
            </a:r>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Hyperparameter-Tuning works best with DecisionTree</a:t>
            </a:r>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RandomForest maybe better than DecisionTree</a:t>
            </a:r>
            <a:endParaRPr/>
          </a:p>
          <a:p>
            <a:pPr indent="0" lvl="0" marL="457200" marR="0" rtl="0" algn="l">
              <a:lnSpc>
                <a:spcPct val="100000"/>
              </a:lnSpc>
              <a:spcBef>
                <a:spcPts val="1400"/>
              </a:spcBef>
              <a:spcAft>
                <a:spcPts val="0"/>
              </a:spcAft>
              <a:buNone/>
            </a:pPr>
            <a:r>
              <a:t/>
            </a:r>
            <a:endParaRPr/>
          </a:p>
        </p:txBody>
      </p:sp>
      <p:sp>
        <p:nvSpPr>
          <p:cNvPr id="433" name="Google Shape;433;p45"/>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Conclusions</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8" name="Shape 438"/>
        <p:cNvGrpSpPr/>
        <p:nvPr/>
      </p:nvGrpSpPr>
      <p:grpSpPr>
        <a:xfrm>
          <a:off x="0" y="0"/>
          <a:ext cx="0" cy="0"/>
          <a:chOff x="0" y="0"/>
          <a:chExt cx="0" cy="0"/>
        </a:xfrm>
      </p:grpSpPr>
      <p:sp>
        <p:nvSpPr>
          <p:cNvPr id="439" name="Google Shape;439;p46"/>
          <p:cNvSpPr txBox="1"/>
          <p:nvPr>
            <p:ph idx="12" type="sldNum"/>
          </p:nvPr>
        </p:nvSpPr>
        <p:spPr>
          <a:xfrm>
            <a:off x="8714772" y="6025573"/>
            <a:ext cx="2743200" cy="40163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0" name="Google Shape;440;p46"/>
          <p:cNvSpPr txBox="1"/>
          <p:nvPr>
            <p:ph idx="1" type="body"/>
          </p:nvPr>
        </p:nvSpPr>
        <p:spPr>
          <a:xfrm>
            <a:off x="770011" y="1859522"/>
            <a:ext cx="10515600"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latin typeface="Arial"/>
                <a:ea typeface="Arial"/>
                <a:cs typeface="Arial"/>
                <a:sym typeface="Arial"/>
              </a:rPr>
              <a:t>Include any relevant assets like Python code snippets, SQL queries, charts, Notebook outputs, or data sets that you may have created during this project</a:t>
            </a:r>
            <a:endParaRPr/>
          </a:p>
        </p:txBody>
      </p:sp>
      <p:sp>
        <p:nvSpPr>
          <p:cNvPr id="441" name="Google Shape;441;p46"/>
          <p:cNvSpPr txBox="1"/>
          <p:nvPr/>
        </p:nvSpPr>
        <p:spPr>
          <a:xfrm>
            <a:off x="770011" y="538650"/>
            <a:ext cx="10515600" cy="54904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lang="en-US" sz="4000">
                <a:solidFill>
                  <a:srgbClr val="0B49CB"/>
                </a:solidFill>
                <a:latin typeface="Arial"/>
                <a:ea typeface="Arial"/>
                <a:cs typeface="Arial"/>
                <a:sym typeface="Arial"/>
              </a:rPr>
              <a:t>Appendix</a:t>
            </a:r>
            <a:endParaRPr sz="4000">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g3e232117b7d_0_4"/>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8" name="Google Shape;448;g3e232117b7d_0_4"/>
          <p:cNvSpPr txBox="1"/>
          <p:nvPr>
            <p:ph idx="1" type="body"/>
          </p:nvPr>
        </p:nvSpPr>
        <p:spPr>
          <a:xfrm>
            <a:off x="770000" y="1381008"/>
            <a:ext cx="10515600" cy="5490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Orbit definition</a:t>
            </a:r>
            <a:endParaRPr/>
          </a:p>
        </p:txBody>
      </p:sp>
      <p:sp>
        <p:nvSpPr>
          <p:cNvPr id="449" name="Google Shape;449;g3e232117b7d_0_4"/>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latin typeface="Arial"/>
                <a:ea typeface="Arial"/>
                <a:cs typeface="Arial"/>
                <a:sym typeface="Arial"/>
              </a:rPr>
              <a:t>Appendix</a:t>
            </a:r>
            <a:endParaRPr sz="4000">
              <a:solidFill>
                <a:srgbClr val="0B49CB"/>
              </a:solidFill>
              <a:latin typeface="IBM Plex Mono SemiBold"/>
              <a:ea typeface="IBM Plex Mono SemiBold"/>
              <a:cs typeface="IBM Plex Mono SemiBold"/>
              <a:sym typeface="IBM Plex Mono SemiBold"/>
            </a:endParaRPr>
          </a:p>
        </p:txBody>
      </p:sp>
      <p:pic>
        <p:nvPicPr>
          <p:cNvPr id="450" name="Google Shape;450;g3e232117b7d_0_4"/>
          <p:cNvPicPr preferRelativeResize="0"/>
          <p:nvPr/>
        </p:nvPicPr>
        <p:blipFill>
          <a:blip r:embed="rId4">
            <a:alphaModFix/>
          </a:blip>
          <a:stretch>
            <a:fillRect/>
          </a:stretch>
        </p:blipFill>
        <p:spPr>
          <a:xfrm>
            <a:off x="770000" y="1930000"/>
            <a:ext cx="5395600" cy="3635649"/>
          </a:xfrm>
          <a:prstGeom prst="rect">
            <a:avLst/>
          </a:prstGeom>
          <a:noFill/>
          <a:ln>
            <a:noFill/>
          </a:ln>
        </p:spPr>
      </p:pic>
      <p:sp>
        <p:nvSpPr>
          <p:cNvPr id="451" name="Google Shape;451;g3e232117b7d_0_4"/>
          <p:cNvSpPr txBox="1"/>
          <p:nvPr/>
        </p:nvSpPr>
        <p:spPr>
          <a:xfrm>
            <a:off x="6165600" y="1381000"/>
            <a:ext cx="5727900" cy="4696500"/>
          </a:xfrm>
          <a:prstGeom prst="rect">
            <a:avLst/>
          </a:prstGeom>
          <a:noFill/>
          <a:ln>
            <a:noFill/>
          </a:ln>
        </p:spPr>
        <p:txBody>
          <a:bodyPr anchorCtr="0" anchor="t" bIns="91425" lIns="91425" spcFirstLastPara="1" rIns="91425" wrap="square" tIns="91425">
            <a:noAutofit/>
          </a:bodyPr>
          <a:lstStyle/>
          <a:p>
            <a:pPr indent="-282575" lvl="0" marL="457200" rtl="0" algn="l">
              <a:lnSpc>
                <a:spcPct val="115000"/>
              </a:lnSpc>
              <a:spcBef>
                <a:spcPts val="1100"/>
              </a:spcBef>
              <a:spcAft>
                <a:spcPts val="0"/>
              </a:spcAft>
              <a:buClr>
                <a:schemeClr val="dk1"/>
              </a:buClr>
              <a:buSzPts val="850"/>
              <a:buChar char="●"/>
            </a:pPr>
            <a:r>
              <a:rPr b="1" lang="en-US" sz="850">
                <a:solidFill>
                  <a:schemeClr val="dk1"/>
                </a:solidFill>
                <a:highlight>
                  <a:srgbClr val="FFFFFF"/>
                </a:highlight>
              </a:rPr>
              <a:t>LEO</a:t>
            </a:r>
            <a:r>
              <a:rPr lang="en-US" sz="850">
                <a:solidFill>
                  <a:schemeClr val="dk1"/>
                </a:solidFill>
                <a:highlight>
                  <a:srgbClr val="FFFFFF"/>
                </a:highlight>
              </a:rPr>
              <a:t>: Low Earth orbit (LEO)is an Earth-centred orbit with an altitude of 2,000 km (1,200 mi) or less (approximately one-third of the radius of Earth),[1] or with at least 11.25 periods per day (an orbital period of 128 minutes or less) and an eccentricity less than 0.25.[2] Most of the manmade objects in outer space are in LEO </a:t>
            </a:r>
            <a:r>
              <a:rPr lang="en-US" sz="850">
                <a:solidFill>
                  <a:srgbClr val="0D47A1"/>
                </a:solidFill>
                <a:highlight>
                  <a:srgbClr val="FFFFFF"/>
                </a:highlight>
                <a:uFill>
                  <a:noFill/>
                </a:uFill>
                <a:hlinkClick r:id="rId5">
                  <a:extLst>
                    <a:ext uri="{A12FA001-AC4F-418D-AE19-62706E023703}">
                      <ahyp:hlinkClr val="tx"/>
                    </a:ext>
                  </a:extLst>
                </a:hlinkClick>
              </a:rPr>
              <a:t>[1]</a:t>
            </a:r>
            <a:r>
              <a:rPr lang="en-US" sz="850">
                <a:solidFill>
                  <a:schemeClr val="dk1"/>
                </a:solidFill>
                <a:highlight>
                  <a:srgbClr val="FFFFFF"/>
                </a:highlight>
              </a:rPr>
              <a:t>.</a:t>
            </a:r>
            <a:endParaRPr sz="850">
              <a:solidFill>
                <a:schemeClr val="dk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VLEO</a:t>
            </a:r>
            <a:r>
              <a:rPr lang="en-US" sz="850">
                <a:solidFill>
                  <a:schemeClr val="dk1"/>
                </a:solidFill>
                <a:highlight>
                  <a:srgbClr val="FFFFFF"/>
                </a:highlight>
              </a:rPr>
              <a:t>: Very Low Earth Orbits (VLEO) can be defined as the orbits with a mean altitude below 450 km. Operating in these orbits can provide a number of benefits to Earth observation spacecraft as the spacecraft operates closer to the observation</a:t>
            </a:r>
            <a:r>
              <a:rPr lang="en-US" sz="850">
                <a:solidFill>
                  <a:srgbClr val="0D47A1"/>
                </a:solidFill>
                <a:highlight>
                  <a:srgbClr val="FFFFFF"/>
                </a:highlight>
                <a:uFill>
                  <a:noFill/>
                </a:uFill>
                <a:hlinkClick r:id="rId6">
                  <a:extLst>
                    <a:ext uri="{A12FA001-AC4F-418D-AE19-62706E023703}">
                      <ahyp:hlinkClr val="tx"/>
                    </a:ext>
                  </a:extLst>
                </a:hlinkClick>
              </a:rPr>
              <a:t>[2]</a:t>
            </a:r>
            <a:r>
              <a:rPr lang="en-US" sz="850">
                <a:solidFill>
                  <a:schemeClr val="dk1"/>
                </a:solidFill>
                <a:highlight>
                  <a:srgbClr val="FFFFFF"/>
                </a:highlight>
              </a:rPr>
              <a:t>.</a:t>
            </a:r>
            <a:endParaRPr sz="850">
              <a:solidFill>
                <a:schemeClr val="dk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GTO</a:t>
            </a:r>
            <a:r>
              <a:rPr lang="en-US" sz="850">
                <a:solidFill>
                  <a:schemeClr val="dk1"/>
                </a:solidFill>
                <a:highlight>
                  <a:srgbClr val="FFFFFF"/>
                </a:highlight>
              </a:rPr>
              <a:t>(Geostationary Transfer Orbit): A geostationary transfer orbit is an elliptical Earth orbit used to transfer satellites from low Earth orbit (LEO) to geostationary orbit (GEO). In a GTO, the perigee (closest point to Earth) is much lower than GEO altitude, while the apogee (farthest point) reaches approximately 22,236 miles (35,786 kilometers) above Earth’s equator — the altitude of a geostationary orbit. Satellites in GTO use onboard propulsion to circularize their orbit at GEO altitude, where they can provide services such as weather monitoring, communications, and surveillance. </a:t>
            </a:r>
            <a:r>
              <a:rPr lang="en-US" sz="850">
                <a:solidFill>
                  <a:srgbClr val="0D47A1"/>
                </a:solidFill>
                <a:highlight>
                  <a:srgbClr val="FFFFFF"/>
                </a:highlight>
                <a:uFill>
                  <a:noFill/>
                </a:uFill>
                <a:hlinkClick r:id="rId7">
                  <a:extLst>
                    <a:ext uri="{A12FA001-AC4F-418D-AE19-62706E023703}">
                      <ahyp:hlinkClr val="tx"/>
                    </a:ext>
                  </a:extLst>
                </a:hlinkClick>
              </a:rPr>
              <a:t>[3] </a:t>
            </a:r>
            <a:r>
              <a:rPr lang="en-US" sz="850">
                <a:solidFill>
                  <a:schemeClr val="dk1"/>
                </a:solidFill>
                <a:highlight>
                  <a:srgbClr val="FFFFFF"/>
                </a:highlight>
              </a:rPr>
              <a:t>.</a:t>
            </a:r>
            <a:endParaRPr sz="850">
              <a:solidFill>
                <a:schemeClr val="dk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SSO (or SO)</a:t>
            </a:r>
            <a:r>
              <a:rPr lang="en-US" sz="850">
                <a:solidFill>
                  <a:schemeClr val="dk1"/>
                </a:solidFill>
                <a:highlight>
                  <a:srgbClr val="FFFFFF"/>
                </a:highlight>
              </a:rPr>
              <a:t>: It is a Sun-synchronous orbit also called a heliosynchronous orbit is a nearly polar orbit around a planet, in which the satellite passes over any given point of the planet's surface at the same local mean solar time </a:t>
            </a:r>
            <a:r>
              <a:rPr lang="en-US" sz="850">
                <a:solidFill>
                  <a:srgbClr val="0D47A1"/>
                </a:solidFill>
                <a:highlight>
                  <a:srgbClr val="FFFFFF"/>
                </a:highlight>
                <a:uFill>
                  <a:noFill/>
                </a:uFill>
                <a:hlinkClick r:id="rId8">
                  <a:extLst>
                    <a:ext uri="{A12FA001-AC4F-418D-AE19-62706E023703}">
                      <ahyp:hlinkClr val="tx"/>
                    </a:ext>
                  </a:extLst>
                </a:hlinkClick>
              </a:rPr>
              <a:t>[4] </a:t>
            </a:r>
            <a:r>
              <a:rPr lang="en-US" sz="850">
                <a:solidFill>
                  <a:schemeClr val="dk1"/>
                </a:solidFill>
                <a:highlight>
                  <a:srgbClr val="FFFFFF"/>
                </a:highlight>
              </a:rPr>
              <a:t>.</a:t>
            </a:r>
            <a:endParaRPr sz="850">
              <a:solidFill>
                <a:schemeClr val="dk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ES-L1 </a:t>
            </a:r>
            <a:r>
              <a:rPr lang="en-US" sz="850">
                <a:solidFill>
                  <a:schemeClr val="dk1"/>
                </a:solidFill>
                <a:highlight>
                  <a:srgbClr val="FFFFFF"/>
                </a:highlight>
              </a:rPr>
              <a:t>:At the Lagrange points the gravitational forces of the two large bodies cancel out in such a way that a small object placed in orbit there is in equilibrium relative to the center of mass of the large bodies. L1 is one such point between the sun and the earth </a:t>
            </a:r>
            <a:r>
              <a:rPr lang="en-US" sz="850">
                <a:solidFill>
                  <a:srgbClr val="0D47A1"/>
                </a:solidFill>
                <a:highlight>
                  <a:srgbClr val="FFFFFF"/>
                </a:highlight>
                <a:uFill>
                  <a:noFill/>
                </a:uFill>
                <a:hlinkClick r:id="rId9">
                  <a:extLst>
                    <a:ext uri="{A12FA001-AC4F-418D-AE19-62706E023703}">
                      <ahyp:hlinkClr val="tx"/>
                    </a:ext>
                  </a:extLst>
                </a:hlinkClick>
              </a:rPr>
              <a:t>[5]</a:t>
            </a:r>
            <a:r>
              <a:rPr lang="en-US" sz="850">
                <a:solidFill>
                  <a:schemeClr val="dk1"/>
                </a:solidFill>
                <a:highlight>
                  <a:srgbClr val="FFFFFF"/>
                </a:highlight>
              </a:rPr>
              <a:t> .</a:t>
            </a:r>
            <a:endParaRPr sz="850">
              <a:solidFill>
                <a:schemeClr val="dk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HEO</a:t>
            </a:r>
            <a:r>
              <a:rPr lang="en-US" sz="850">
                <a:solidFill>
                  <a:schemeClr val="dk1"/>
                </a:solidFill>
                <a:highlight>
                  <a:srgbClr val="FFFFFF"/>
                </a:highlight>
              </a:rPr>
              <a:t> A highly elliptical orbit, is an elliptic orbit with high eccentricity, usually referring to one around Earth </a:t>
            </a:r>
            <a:r>
              <a:rPr lang="en-US" sz="850">
                <a:solidFill>
                  <a:srgbClr val="0D47A1"/>
                </a:solidFill>
                <a:highlight>
                  <a:srgbClr val="FFFFFF"/>
                </a:highlight>
                <a:uFill>
                  <a:noFill/>
                </a:uFill>
                <a:hlinkClick r:id="rId10">
                  <a:extLst>
                    <a:ext uri="{A12FA001-AC4F-418D-AE19-62706E023703}">
                      <ahyp:hlinkClr val="tx"/>
                    </a:ext>
                  </a:extLst>
                </a:hlinkClick>
              </a:rPr>
              <a:t>[6]</a:t>
            </a:r>
            <a:r>
              <a:rPr lang="en-US" sz="850">
                <a:solidFill>
                  <a:schemeClr val="dk1"/>
                </a:solidFill>
                <a:highlight>
                  <a:srgbClr val="FFFFFF"/>
                </a:highlight>
              </a:rPr>
              <a:t>.</a:t>
            </a:r>
            <a:endParaRPr sz="850">
              <a:solidFill>
                <a:schemeClr val="dk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ISS </a:t>
            </a:r>
            <a:r>
              <a:rPr lang="en-US" sz="850">
                <a:solidFill>
                  <a:schemeClr val="dk1"/>
                </a:solidFill>
                <a:highlight>
                  <a:srgbClr val="FFFFFF"/>
                </a:highlight>
              </a:rPr>
              <a:t>A modular space station (habitable artificial satellite) in low Earth orbit. It is a multinational collaborative project between five participating space agencies: NASA (United States), Roscosmos (Russia), JAXA (Japan), ESA (Europe), and CSA (Canada)</a:t>
            </a:r>
            <a:r>
              <a:rPr lang="en-US" sz="850">
                <a:solidFill>
                  <a:srgbClr val="0D47A1"/>
                </a:solidFill>
                <a:highlight>
                  <a:srgbClr val="FFFFFF"/>
                </a:highlight>
                <a:uFill>
                  <a:noFill/>
                </a:uFill>
                <a:hlinkClick r:id="rId11">
                  <a:extLst>
                    <a:ext uri="{A12FA001-AC4F-418D-AE19-62706E023703}">
                      <ahyp:hlinkClr val="tx"/>
                    </a:ext>
                  </a:extLst>
                </a:hlinkClick>
              </a:rPr>
              <a:t> [7]</a:t>
            </a:r>
            <a:endParaRPr sz="850">
              <a:solidFill>
                <a:srgbClr val="0D47A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MEO </a:t>
            </a:r>
            <a:r>
              <a:rPr lang="en-US" sz="850">
                <a:solidFill>
                  <a:schemeClr val="dk1"/>
                </a:solidFill>
                <a:highlight>
                  <a:srgbClr val="FFFFFF"/>
                </a:highlight>
              </a:rPr>
              <a:t>Geocentric orbits ranging in altitude from 2,000 km (1,200 mi) to just below geosynchronous orbit at 35,786 kilometers (22,236 mi). Also known as an intermediate circular orbit. These are "most commonly at 20,200 kilometers (12,600 mi), or 20,650 kilometers (12,830 mi), with an orbital period of 12 hours </a:t>
            </a:r>
            <a:r>
              <a:rPr lang="en-US" sz="850">
                <a:solidFill>
                  <a:srgbClr val="0D47A1"/>
                </a:solidFill>
                <a:highlight>
                  <a:srgbClr val="FFFFFF"/>
                </a:highlight>
                <a:uFill>
                  <a:noFill/>
                </a:uFill>
                <a:hlinkClick r:id="rId12">
                  <a:extLst>
                    <a:ext uri="{A12FA001-AC4F-418D-AE19-62706E023703}">
                      <ahyp:hlinkClr val="tx"/>
                    </a:ext>
                  </a:extLst>
                </a:hlinkClick>
              </a:rPr>
              <a:t>[8]</a:t>
            </a:r>
            <a:endParaRPr sz="850">
              <a:solidFill>
                <a:srgbClr val="0D47A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HEO </a:t>
            </a:r>
            <a:r>
              <a:rPr lang="en-US" sz="850">
                <a:solidFill>
                  <a:schemeClr val="dk1"/>
                </a:solidFill>
                <a:highlight>
                  <a:srgbClr val="FFFFFF"/>
                </a:highlight>
              </a:rPr>
              <a:t>Geocentric orbits above the altitude of geosynchronous orbit (35,786 km or 22,236 mi) </a:t>
            </a:r>
            <a:r>
              <a:rPr lang="en-US" sz="850">
                <a:solidFill>
                  <a:srgbClr val="0D47A1"/>
                </a:solidFill>
                <a:highlight>
                  <a:srgbClr val="FFFFFF"/>
                </a:highlight>
                <a:uFill>
                  <a:noFill/>
                </a:uFill>
                <a:hlinkClick r:id="rId13">
                  <a:extLst>
                    <a:ext uri="{A12FA001-AC4F-418D-AE19-62706E023703}">
                      <ahyp:hlinkClr val="tx"/>
                    </a:ext>
                  </a:extLst>
                </a:hlinkClick>
              </a:rPr>
              <a:t>[9]</a:t>
            </a:r>
            <a:endParaRPr sz="850">
              <a:solidFill>
                <a:srgbClr val="0D47A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GEO </a:t>
            </a:r>
            <a:r>
              <a:rPr lang="en-US" sz="850">
                <a:solidFill>
                  <a:schemeClr val="dk1"/>
                </a:solidFill>
                <a:highlight>
                  <a:srgbClr val="FFFFFF"/>
                </a:highlight>
              </a:rPr>
              <a:t>It is a circular geosynchronous orbit 35,786 kilometres (22,236 miles) above Earth's equator and following the direction of Earth's rotation </a:t>
            </a:r>
            <a:r>
              <a:rPr lang="en-US" sz="850">
                <a:solidFill>
                  <a:srgbClr val="0D47A1"/>
                </a:solidFill>
                <a:highlight>
                  <a:srgbClr val="FFFFFF"/>
                </a:highlight>
                <a:uFill>
                  <a:noFill/>
                </a:uFill>
                <a:hlinkClick r:id="rId14">
                  <a:extLst>
                    <a:ext uri="{A12FA001-AC4F-418D-AE19-62706E023703}">
                      <ahyp:hlinkClr val="tx"/>
                    </a:ext>
                  </a:extLst>
                </a:hlinkClick>
              </a:rPr>
              <a:t>[10]</a:t>
            </a:r>
            <a:endParaRPr sz="850">
              <a:solidFill>
                <a:srgbClr val="0D47A1"/>
              </a:solidFill>
              <a:highlight>
                <a:srgbClr val="FFFFFF"/>
              </a:highlight>
            </a:endParaRPr>
          </a:p>
          <a:p>
            <a:pPr indent="-282575" lvl="0" marL="457200" rtl="0" algn="l">
              <a:lnSpc>
                <a:spcPct val="115000"/>
              </a:lnSpc>
              <a:spcBef>
                <a:spcPts val="0"/>
              </a:spcBef>
              <a:spcAft>
                <a:spcPts val="0"/>
              </a:spcAft>
              <a:buClr>
                <a:schemeClr val="dk1"/>
              </a:buClr>
              <a:buSzPts val="850"/>
              <a:buChar char="●"/>
            </a:pPr>
            <a:r>
              <a:rPr b="1" lang="en-US" sz="850">
                <a:solidFill>
                  <a:schemeClr val="dk1"/>
                </a:solidFill>
                <a:highlight>
                  <a:srgbClr val="FFFFFF"/>
                </a:highlight>
              </a:rPr>
              <a:t>PO </a:t>
            </a:r>
            <a:r>
              <a:rPr lang="en-US" sz="850">
                <a:solidFill>
                  <a:schemeClr val="dk1"/>
                </a:solidFill>
                <a:highlight>
                  <a:srgbClr val="FFFFFF"/>
                </a:highlight>
              </a:rPr>
              <a:t>It is one type of satellites in which a satellite passes above or nearly above both poles of the body being orbited (usually a planet such as the Earth </a:t>
            </a:r>
            <a:r>
              <a:rPr lang="en-US" sz="850">
                <a:solidFill>
                  <a:srgbClr val="0D47A1"/>
                </a:solidFill>
                <a:highlight>
                  <a:srgbClr val="FFFFFF"/>
                </a:highlight>
                <a:uFill>
                  <a:noFill/>
                </a:uFill>
                <a:hlinkClick r:id="rId15">
                  <a:extLst>
                    <a:ext uri="{A12FA001-AC4F-418D-AE19-62706E023703}">
                      <ahyp:hlinkClr val="tx"/>
                    </a:ext>
                  </a:extLst>
                </a:hlinkClick>
              </a:rPr>
              <a:t>[11]</a:t>
            </a:r>
            <a:endParaRPr sz="850">
              <a:solidFill>
                <a:srgbClr val="0D47A1"/>
              </a:solidFill>
              <a:highlight>
                <a:srgbClr val="FFFFFF"/>
              </a:highlight>
            </a:endParaRPr>
          </a:p>
          <a:p>
            <a:pPr indent="0" lvl="0" marL="0" rtl="0" algn="l">
              <a:spcBef>
                <a:spcPts val="1100"/>
              </a:spcBef>
              <a:spcAft>
                <a:spcPts val="0"/>
              </a:spcAft>
              <a:buNone/>
            </a:pPr>
            <a:r>
              <a:t/>
            </a:r>
            <a:endParaRPr sz="12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5" name="Shape 455"/>
        <p:cNvGrpSpPr/>
        <p:nvPr/>
      </p:nvGrpSpPr>
      <p:grpSpPr>
        <a:xfrm>
          <a:off x="0" y="0"/>
          <a:ext cx="0" cy="0"/>
          <a:chOff x="0" y="0"/>
          <a:chExt cx="0" cy="0"/>
        </a:xfrm>
      </p:grpSpPr>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2021-04-29T18:58:34Z</dcterms:created>
  <dc:creator>YAN Luo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